
<file path=[Content_Types].xml><?xml version="1.0" encoding="utf-8"?>
<Types xmlns="http://schemas.openxmlformats.org/package/2006/content-types">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notesSlides/notesSlide1.xml" Type="http://schemas.openxmlformats.org/officeDocument/2006/relationships/notesSlide"/><Relationship Id="rId17" Target="notesSlides/notesSlide2.xml" Type="http://schemas.openxmlformats.org/officeDocument/2006/relationships/notesSlide"/><Relationship Id="rId18" Target="notesSlides/notesSlide3.xml" Type="http://schemas.openxmlformats.org/officeDocument/2006/relationships/notesSlide"/><Relationship Id="rId19" Target="notesSlides/notesSlide4.xml" Type="http://schemas.openxmlformats.org/officeDocument/2006/relationships/notesSlide"/><Relationship Id="rId2" Target="viewProps.xml" Type="http://schemas.openxmlformats.org/officeDocument/2006/relationships/viewProps"/><Relationship Id="rId20" Target="notesSlides/notesSlide5.xml" Type="http://schemas.openxmlformats.org/officeDocument/2006/relationships/notesSlide"/><Relationship Id="rId21" Target="notesSlides/notesSlide6.xml" Type="http://schemas.openxmlformats.org/officeDocument/2006/relationships/notesSlide"/><Relationship Id="rId22" Target="notesSlides/notesSlide7.xml" Type="http://schemas.openxmlformats.org/officeDocument/2006/relationships/notesSlide"/><Relationship Id="rId3" Target="presProps.xml" Type="http://schemas.openxmlformats.org/officeDocument/2006/relationships/presProps"/><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大家好，我们是Dawn Liu团队。今天非常荣幸能在这里向大家展示我们的项目——ArcVote Treasury。这是一个基于Arc网络的、由DAO治理驱动的金库管理协议，专为解决当前DAO金库管理的痛点而设计。我们参加的是Encode Club与Arc联合举办的可编程货币黑客松，DeFi赛道。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目前，传统的DAO金库管理存在诸多问题。首先，多签机制虽然安全，但流程繁琐，效率低下。其次，大量的链下协调工作不仅耗时，还容易出错。最关键的是，波动巨大的Gas费让金库的日常运营变得非常困难。因此，我们需要一个完全在链上、无需信任的自动化工作流，实现从提案、投票到自动执行的闭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我们的解决方案——ArcVote Treasury，完美地解决了这些痛点。它提供了一个无缝的、完全在链上的金库管理流程。首先，任何人都可以创建包含收款地址、金额和描述的资助提案。然后，社区成员可以进行链上投票，每个钱包一票，保证了公平和透明。最重要的是，一旦提案通过，智能合约会自动执行USDC的转账，整个过程无需信任，高效且安全。这一切都构建在Arc的USDC原生Layer 1网络上。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是我们项目的架构。核心是一个用Solidity编写的智能合约ArcVoteTreasury.sol，它部署在Arc测试网上，负责处理提案创建、投票、计票和自动转账等所有核心逻辑。前端则是一个基于HTML和ethers.js的网页应用，为用户提供了一个直观的交互界面。未来，我们计划集成Circle的钱包API和合约，以实现更复杂的可编程执行。整个项目都构建在Arc测试网上，利用其USDC作为Gas费和亚秒级终局性的特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我们的技术栈非常清晰。智能合约使用Solidity编写，部署在Arc L1上。前端使用ethers.js与区块链交互。我们还计划集成Circle的钱包和合约服务。选择Arc作为我们的底层公链，主要有两个原因：首先，Arc使用USDC作为Gas费，这使得交易成本完全可预测，对于金库管理至关重要。其次，Arc的亚秒级终局性保证了交易的即时确认，大大提升了运营效率和安全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目前，我们的项目已经完成了核心智能合约的开发，包括提案、投票和自动执行功能。基础的前端界面也已开发完毕。我们正在将合约部署到Arc测试网，并开始集成Circle的钱包API。我们的最终目标是完成一个功能完整的MVP，并制作一个详细的演示视频，向大家完整展示整个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Thank you all for listening. The code for our project is now open source, and you can access our GitHub repository via the link on the screen. Finally, we would like to thank Encode Club, Arc, and Circle again for providing us with this valuable hackathon opportunity and support. Thank you!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xml" Type="http://schemas.openxmlformats.org/officeDocument/2006/relationships/notesSlid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5.png" Type="http://schemas.openxmlformats.org/officeDocument/2006/relationships/image"/><Relationship Id="rId13" Target="../media/image26.svg" Type="http://schemas.openxmlformats.org/officeDocument/2006/relationships/image"/><Relationship Id="rId14" Target="../notesSlides/notesSlide4.xml" Type="http://schemas.openxmlformats.org/officeDocument/2006/relationships/notesSlid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3.png" Type="http://schemas.openxmlformats.org/officeDocument/2006/relationships/image"/><Relationship Id="rId11" Target="../media/image34.svg" Type="http://schemas.openxmlformats.org/officeDocument/2006/relationships/image"/><Relationship Id="rId12" Target="../media/image35.png" Type="http://schemas.openxmlformats.org/officeDocument/2006/relationships/image"/><Relationship Id="rId13" Target="../media/image36.svg" Type="http://schemas.openxmlformats.org/officeDocument/2006/relationships/image"/><Relationship Id="rId14" Target="../media/image37.png" Type="http://schemas.openxmlformats.org/officeDocument/2006/relationships/image"/><Relationship Id="rId15" Target="../media/image38.svg" Type="http://schemas.openxmlformats.org/officeDocument/2006/relationships/image"/><Relationship Id="rId16" Target="../notesSlides/notesSlide5.xml" Type="http://schemas.openxmlformats.org/officeDocument/2006/relationships/notesSlide"/><Relationship Id="rId2" Target="../media/image15.png" Type="http://schemas.openxmlformats.org/officeDocument/2006/relationships/image"/><Relationship Id="rId3" Target="../media/image16.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31.png" Type="http://schemas.openxmlformats.org/officeDocument/2006/relationships/image"/><Relationship Id="rId9" Target="../media/image3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7.png" Type="http://schemas.openxmlformats.org/officeDocument/2006/relationships/image"/><Relationship Id="rId11" Target="../media/image48.svg" Type="http://schemas.openxmlformats.org/officeDocument/2006/relationships/image"/><Relationship Id="rId12" Target="../notesSlides/notesSlide6.xml" Type="http://schemas.openxmlformats.org/officeDocument/2006/relationships/notesSlide"/><Relationship Id="rId2" Target="../media/image39.png" Type="http://schemas.openxmlformats.org/officeDocument/2006/relationships/image"/><Relationship Id="rId3" Target="../media/image40.svg" Type="http://schemas.openxmlformats.org/officeDocument/2006/relationships/image"/><Relationship Id="rId4" Target="../media/image41.png" Type="http://schemas.openxmlformats.org/officeDocument/2006/relationships/image"/><Relationship Id="rId5" Target="../media/image42.svg" Type="http://schemas.openxmlformats.org/officeDocument/2006/relationships/image"/><Relationship Id="rId6" Target="../media/image43.png" Type="http://schemas.openxmlformats.org/officeDocument/2006/relationships/image"/><Relationship Id="rId7" Target="../media/image44.svg" Type="http://schemas.openxmlformats.org/officeDocument/2006/relationships/image"/><Relationship Id="rId8" Target="../media/image45.png" Type="http://schemas.openxmlformats.org/officeDocument/2006/relationships/image"/><Relationship Id="rId9" Target="../media/image4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notesSlides/notesSlide7.xml" Type="http://schemas.openxmlformats.org/officeDocument/2006/relationships/notesSlide"/><Relationship Id="rId5" Target="../media/image4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F293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016000"/>
            <a:ext cx="3556000" cy="3556000"/>
          </a:xfrm>
          <a:prstGeom prst="ellipse">
            <a:avLst/>
          </a:prstGeom>
          <a:solidFill>
            <a:srgbClr val="4ADE80">
              <a:alpha val="12000"/>
            </a:srgbClr>
          </a:solidFill>
          <a:ln cmpd="sng" cap="flat">
            <a:solidFill>
              <a:srgbClr val="2EC565">
                <a:alpha val="12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5080000"/>
            <a:ext cx="2794000" cy="2794000"/>
          </a:xfrm>
          <a:prstGeom prst="ellipse">
            <a:avLst/>
          </a:prstGeom>
          <a:solidFill>
            <a:srgbClr val="4ADE80">
              <a:alpha val="10000"/>
            </a:srgbClr>
          </a:solidFill>
          <a:ln cmpd="sng" cap="flat">
            <a:solidFill>
              <a:srgbClr val="2EC565">
                <a:alpha val="1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1176000" y="1524000"/>
            <a:ext cx="304800" cy="304800"/>
          </a:xfrm>
          <a:prstGeom prst="ellipse">
            <a:avLst/>
          </a:prstGeom>
          <a:solidFill>
            <a:srgbClr val="4ADE80">
              <a:alpha val="30000"/>
            </a:srgbClr>
          </a:solidFill>
          <a:ln cmpd="sng" cap="flat">
            <a:solidFill>
              <a:srgbClr val="2EC565">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286000"/>
            <a:ext cx="203200" cy="203200"/>
          </a:xfrm>
          <a:prstGeom prst="ellipse">
            <a:avLst/>
          </a:prstGeom>
          <a:solidFill>
            <a:srgbClr val="4ADE80">
              <a:alpha val="20000"/>
            </a:srgbClr>
          </a:solidFill>
          <a:ln cmpd="sng" cap="flat">
            <a:solidFill>
              <a:srgbClr val="2EC565">
                <a:alpha val="2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0" y="1524000"/>
            <a:ext cx="12192000" cy="1143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4ADE80"/>
                </a:solidFill>
                <a:latin typeface="Noto Sans SC"/>
                <a:ea typeface="Noto Sans SC"/>
                <a:cs typeface="Noto Sans SC"/>
                <a:sym typeface="Noto Sans SC"/>
              </a:rPr>
              <a:t>ArcVote Treasury</a:t>
            </a:r>
            <a:endParaRPr lang="en-US" sz="1100"/>
          </a:p>
        </p:txBody>
      </p:sp>
      <p:sp>
        <p:nvSpPr>
          <p:cNvPr name="AutoShape 7" id="7"/>
          <p:cNvSpPr/>
          <p:nvPr/>
        </p:nvSpPr>
        <p:spPr>
          <a:xfrm rot="0" flipH="false" flipV="false">
            <a:off x="635000" y="2794000"/>
            <a:ext cx="109220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8333"/>
              </a:lnSpc>
              <a:defRPr/>
            </a:pPr>
            <a:r>
              <a:rPr lang="en-US" b="false" i="false" strike="noStrike" u="none" sz="2000">
                <a:solidFill>
                  <a:srgbClr val="FFFFFF">
                    <a:alpha val="70196"/>
                  </a:srgbClr>
                </a:solidFill>
                <a:latin typeface="Noto Sans SC"/>
                <a:ea typeface="Noto Sans SC"/>
                <a:cs typeface="Noto Sans SC"/>
                <a:sym typeface="Noto Sans SC"/>
              </a:rPr>
              <a:t>DAO Governance-driven Treasury Management Protocol on Arc</a:t>
            </a:r>
            <a:endParaRPr lang="en-US" sz="1100"/>
          </a:p>
        </p:txBody>
      </p:sp>
      <p:sp>
        <p:nvSpPr>
          <p:cNvPr name="AutoShape 8" id="8"/>
          <p:cNvSpPr/>
          <p:nvPr/>
        </p:nvSpPr>
        <p:spPr>
          <a:xfrm rot="0" flipH="false" flipV="false">
            <a:off x="1143000" y="3937000"/>
            <a:ext cx="9906000" cy="914400"/>
          </a:xfrm>
          <a:prstGeom prst="roundRect">
            <a:avLst>
              <a:gd name="adj" fmla="val 0"/>
            </a:avLst>
          </a:prstGeom>
          <a:solidFill>
            <a:srgbClr val="4ADE80">
              <a:alpha val="8000"/>
            </a:srgbClr>
          </a:solidFill>
          <a:ln w="12700" cmpd="sng" cap="flat">
            <a:solidFill>
              <a:srgbClr val="4ADE80">
                <a:alpha val="4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270000" y="4140200"/>
            <a:ext cx="9652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800">
                <a:solidFill>
                  <a:srgbClr val="FFFFFF"/>
                </a:solidFill>
                <a:latin typeface="Noto Sans SC"/>
                <a:ea typeface="Noto Sans SC"/>
                <a:cs typeface="Noto Sans SC"/>
                <a:sym typeface="Noto Sans SC"/>
              </a:rPr>
              <a:t>Encode Club × Arc Programmable Money Hackathon</a:t>
            </a:r>
            <a:endParaRPr lang="en-US" sz="1100"/>
          </a:p>
        </p:txBody>
      </p:sp>
      <p:sp>
        <p:nvSpPr>
          <p:cNvPr name="AutoShape 10" id="10"/>
          <p:cNvSpPr/>
          <p:nvPr/>
        </p:nvSpPr>
        <p:spPr>
          <a:xfrm rot="0" flipH="false" flipV="false">
            <a:off x="1143000" y="5207000"/>
            <a:ext cx="4762500" cy="1143000"/>
          </a:xfrm>
          <a:prstGeom prst="roundRect">
            <a:avLst>
              <a:gd name="adj" fmla="val 0"/>
            </a:avLst>
          </a:prstGeom>
          <a:solidFill>
            <a:srgbClr val="FFFFFF">
              <a:alpha val="4000"/>
            </a:srgbClr>
          </a:solidFill>
          <a:ln cmpd="sng" cap="flat">
            <a:solidFill>
              <a:srgbClr val="E6CFCF">
                <a:alpha val="4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460500" y="5575300"/>
            <a:ext cx="406400" cy="406400"/>
          </a:xfrm>
          <a:prstGeom prst="rect">
            <a:avLst/>
          </a:prstGeom>
        </p:spPr>
      </p:pic>
      <p:sp>
        <p:nvSpPr>
          <p:cNvPr name="AutoShape 12" id="12"/>
          <p:cNvSpPr/>
          <p:nvPr/>
        </p:nvSpPr>
        <p:spPr>
          <a:xfrm rot="0" flipH="false" flipV="false">
            <a:off x="2032000" y="5359400"/>
            <a:ext cx="381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400">
                <a:solidFill>
                  <a:srgbClr val="FFFFFF">
                    <a:alpha val="50196"/>
                  </a:srgbClr>
                </a:solidFill>
                <a:latin typeface="Noto Sans SC"/>
                <a:ea typeface="Noto Sans SC"/>
                <a:cs typeface="Noto Sans SC"/>
                <a:sym typeface="Noto Sans SC"/>
              </a:rPr>
              <a:t>COMPETITION TRACK</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true" i="false" strike="noStrike" u="none" sz="1800">
                <a:solidFill>
                  <a:srgbClr val="4ADE80"/>
                </a:solidFill>
                <a:latin typeface="Noto Sans SC"/>
                <a:ea typeface="Noto Sans SC"/>
                <a:cs typeface="Noto Sans SC"/>
                <a:sym typeface="Noto Sans SC"/>
              </a:rPr>
              <a:t>DeFi (Decentralized Finance)</a:t>
            </a:r>
          </a:p>
        </p:txBody>
      </p:sp>
      <p:sp>
        <p:nvSpPr>
          <p:cNvPr name="AutoShape 13" id="13"/>
          <p:cNvSpPr/>
          <p:nvPr/>
        </p:nvSpPr>
        <p:spPr>
          <a:xfrm rot="0" flipH="false" flipV="false">
            <a:off x="6286500" y="5207000"/>
            <a:ext cx="4762500" cy="1143000"/>
          </a:xfrm>
          <a:prstGeom prst="roundRect">
            <a:avLst>
              <a:gd name="adj" fmla="val 0"/>
            </a:avLst>
          </a:prstGeom>
          <a:solidFill>
            <a:srgbClr val="FFFFFF">
              <a:alpha val="4000"/>
            </a:srgbClr>
          </a:solidFill>
          <a:ln cmpd="sng" cap="flat">
            <a:solidFill>
              <a:srgbClr val="E6CFCF">
                <a:alpha val="4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04000" y="5575300"/>
            <a:ext cx="406400" cy="406400"/>
          </a:xfrm>
          <a:prstGeom prst="rect">
            <a:avLst/>
          </a:prstGeom>
        </p:spPr>
      </p:pic>
      <p:sp>
        <p:nvSpPr>
          <p:cNvPr name="AutoShape 15" id="15"/>
          <p:cNvSpPr/>
          <p:nvPr/>
        </p:nvSpPr>
        <p:spPr>
          <a:xfrm rot="0" flipH="false" flipV="false">
            <a:off x="7175500" y="5359400"/>
            <a:ext cx="381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400">
                <a:solidFill>
                  <a:srgbClr val="FFFFFF">
                    <a:alpha val="50196"/>
                  </a:srgbClr>
                </a:solidFill>
                <a:latin typeface="Noto Sans SC"/>
                <a:ea typeface="Noto Sans SC"/>
                <a:cs typeface="Noto Sans SC"/>
                <a:sym typeface="Noto Sans SC"/>
              </a:rPr>
              <a:t>TEAM</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true" i="false" strike="noStrike" u="none" sz="1800">
                <a:solidFill>
                  <a:srgbClr val="4ADE80"/>
                </a:solidFill>
                <a:latin typeface="Noto Sans SC"/>
                <a:ea typeface="Noto Sans SC"/>
                <a:cs typeface="Noto Sans SC"/>
                <a:sym typeface="Noto Sans SC"/>
              </a:rPr>
              <a:t>Dawn Liu</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F293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8255000" y="3175000"/>
            <a:ext cx="5080000" cy="5080000"/>
          </a:xfrm>
          <a:prstGeom prst="ellipse">
            <a:avLst/>
          </a:prstGeom>
          <a:solidFill>
            <a:srgbClr val="4ADE80">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635000"/>
            <a:ext cx="2540000" cy="2540000"/>
          </a:xfrm>
          <a:prstGeom prst="ellipse">
            <a:avLst/>
          </a:prstGeom>
          <a:solidFill>
            <a:srgbClr val="4ADE80">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Problem</a:t>
            </a:r>
            <a:endParaRPr lang="en-US" sz="1100"/>
          </a:p>
        </p:txBody>
      </p:sp>
      <p:sp>
        <p:nvSpPr>
          <p:cNvPr name="AutoShape 5" id="5"/>
          <p:cNvSpPr/>
          <p:nvPr/>
        </p:nvSpPr>
        <p:spPr>
          <a:xfrm rot="0" flipH="false" flipV="false">
            <a:off x="762000" y="1651000"/>
            <a:ext cx="5334000" cy="1206500"/>
          </a:xfrm>
          <a:prstGeom prst="roundRect">
            <a:avLst>
              <a:gd name="adj" fmla="val 0"/>
            </a:avLst>
          </a:prstGeom>
          <a:solidFill>
            <a:srgbClr val="37415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651000"/>
            <a:ext cx="50800" cy="12065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841500"/>
            <a:ext cx="406400" cy="406400"/>
          </a:xfrm>
          <a:prstGeom prst="rect">
            <a:avLst/>
          </a:prstGeom>
        </p:spPr>
      </p:pic>
      <p:sp>
        <p:nvSpPr>
          <p:cNvPr name="AutoShape 8" id="8"/>
          <p:cNvSpPr/>
          <p:nvPr/>
        </p:nvSpPr>
        <p:spPr>
          <a:xfrm rot="0" flipH="false" flipV="false">
            <a:off x="1587500" y="1778000"/>
            <a:ext cx="4445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FFFFFF"/>
                </a:solidFill>
                <a:latin typeface="Noto Sans SC"/>
                <a:ea typeface="Noto Sans SC"/>
                <a:cs typeface="Noto Sans SC"/>
                <a:sym typeface="Noto Sans SC"/>
              </a:rPr>
              <a:t>Multi-signature Bottlenecks</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D1D5DB"/>
                </a:solidFill>
                <a:latin typeface="Noto Sans SC"/>
                <a:ea typeface="Noto Sans SC"/>
                <a:cs typeface="Noto Sans SC"/>
                <a:sym typeface="Noto Sans SC"/>
              </a:rPr>
              <a:t>Requires multiple parties to sign off, leading to slow and cumbersome approval processes that hinder agile decision-making.</a:t>
            </a:r>
          </a:p>
        </p:txBody>
      </p:sp>
      <p:sp>
        <p:nvSpPr>
          <p:cNvPr name="AutoShape 9" id="9"/>
          <p:cNvSpPr/>
          <p:nvPr/>
        </p:nvSpPr>
        <p:spPr>
          <a:xfrm rot="0" flipH="false" flipV="false">
            <a:off x="762000" y="3111500"/>
            <a:ext cx="5334000" cy="1206500"/>
          </a:xfrm>
          <a:prstGeom prst="roundRect">
            <a:avLst>
              <a:gd name="adj" fmla="val 0"/>
            </a:avLst>
          </a:prstGeom>
          <a:solidFill>
            <a:srgbClr val="37415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762000" y="3111500"/>
            <a:ext cx="50800" cy="12065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302000"/>
            <a:ext cx="406400" cy="406400"/>
          </a:xfrm>
          <a:prstGeom prst="rect">
            <a:avLst/>
          </a:prstGeom>
        </p:spPr>
      </p:pic>
      <p:sp>
        <p:nvSpPr>
          <p:cNvPr name="AutoShape 12" id="12"/>
          <p:cNvSpPr/>
          <p:nvPr/>
        </p:nvSpPr>
        <p:spPr>
          <a:xfrm rot="0" flipH="false" flipV="false">
            <a:off x="1587500" y="3238500"/>
            <a:ext cx="4445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FFFFFF"/>
                </a:solidFill>
                <a:latin typeface="Noto Sans SC"/>
                <a:ea typeface="Noto Sans SC"/>
                <a:cs typeface="Noto Sans SC"/>
                <a:sym typeface="Noto Sans SC"/>
              </a:rPr>
              <a:t>Off-chain Coordination Risks</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D1D5DB"/>
                </a:solidFill>
                <a:latin typeface="Noto Sans SC"/>
                <a:ea typeface="Noto Sans SC"/>
                <a:cs typeface="Noto Sans SC"/>
                <a:sym typeface="Noto Sans SC"/>
              </a:rPr>
              <a:t>Relies on external communication channels, which are inefficient, prone to human error, and lack transparent auditability.</a:t>
            </a:r>
          </a:p>
        </p:txBody>
      </p:sp>
      <p:sp>
        <p:nvSpPr>
          <p:cNvPr name="AutoShape 13" id="13"/>
          <p:cNvSpPr/>
          <p:nvPr/>
        </p:nvSpPr>
        <p:spPr>
          <a:xfrm rot="0" flipH="false" flipV="false">
            <a:off x="762000" y="4572000"/>
            <a:ext cx="5334000" cy="1206500"/>
          </a:xfrm>
          <a:prstGeom prst="roundRect">
            <a:avLst>
              <a:gd name="adj" fmla="val 0"/>
            </a:avLst>
          </a:prstGeom>
          <a:solidFill>
            <a:srgbClr val="37415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2000" y="4572000"/>
            <a:ext cx="50800" cy="12065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762500"/>
            <a:ext cx="406400" cy="406400"/>
          </a:xfrm>
          <a:prstGeom prst="rect">
            <a:avLst/>
          </a:prstGeom>
        </p:spPr>
      </p:pic>
      <p:sp>
        <p:nvSpPr>
          <p:cNvPr name="AutoShape 16" id="16"/>
          <p:cNvSpPr/>
          <p:nvPr/>
        </p:nvSpPr>
        <p:spPr>
          <a:xfrm rot="0" flipH="false" flipV="false">
            <a:off x="1587500" y="4699000"/>
            <a:ext cx="4445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FFFFFF"/>
                </a:solidFill>
                <a:latin typeface="Noto Sans SC"/>
                <a:ea typeface="Noto Sans SC"/>
                <a:cs typeface="Noto Sans SC"/>
                <a:sym typeface="Noto Sans SC"/>
              </a:rPr>
              <a:t>Unpredictable Gas Costs</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D1D5DB"/>
                </a:solidFill>
                <a:latin typeface="Noto Sans SC"/>
                <a:ea typeface="Noto Sans SC"/>
                <a:cs typeface="Noto Sans SC"/>
                <a:sym typeface="Noto Sans SC"/>
              </a:rPr>
              <a:t>High volatility in transaction fees makes small treasury operations impractical and budget forecasting nearly impossible.</a:t>
            </a:r>
          </a:p>
        </p:txBody>
      </p:sp>
      <p:sp>
        <p:nvSpPr>
          <p:cNvPr name="AutoShape 17" id="17"/>
          <p:cNvSpPr/>
          <p:nvPr/>
        </p:nvSpPr>
        <p:spPr>
          <a:xfrm rot="0" flipH="false" flipV="false">
            <a:off x="6477000" y="1651000"/>
            <a:ext cx="4953000" cy="2095500"/>
          </a:xfrm>
          <a:prstGeom prst="roundRect">
            <a:avLst>
              <a:gd name="adj" fmla="val 0"/>
            </a:avLst>
          </a:prstGeom>
          <a:solidFill>
            <a:srgbClr val="374151">
              <a:alpha val="50000"/>
            </a:srgbClr>
          </a:solidFill>
          <a:ln w="12700" cmpd="sng" cap="flat">
            <a:solidFill>
              <a:srgbClr val="4ADE80">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731000" y="1905000"/>
            <a:ext cx="711200" cy="711200"/>
          </a:xfrm>
          <a:prstGeom prst="rect">
            <a:avLst/>
          </a:prstGeom>
        </p:spPr>
      </p:pic>
      <p:sp>
        <p:nvSpPr>
          <p:cNvPr name="AutoShape 19" id="19"/>
          <p:cNvSpPr/>
          <p:nvPr/>
        </p:nvSpPr>
        <p:spPr>
          <a:xfrm rot="0" flipH="false" flipV="false">
            <a:off x="7620000" y="1841500"/>
            <a:ext cx="3810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FFFFFF"/>
                </a:solidFill>
                <a:latin typeface="Noto Sans SC"/>
                <a:ea typeface="Noto Sans SC"/>
                <a:cs typeface="Noto Sans SC"/>
                <a:sym typeface="Noto Sans SC"/>
              </a:rPr>
              <a:t>Broken Treasury Workflow</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D1D5DB"/>
                </a:solidFill>
                <a:latin typeface="Noto Sans SC"/>
                <a:ea typeface="Noto Sans SC"/>
                <a:cs typeface="Noto Sans SC"/>
                <a:sym typeface="Noto Sans SC"/>
              </a:rPr>
              <a:t>The current model creates a "trust black box" with manual interventions, high friction, and a lack of real-time transparency, risking mismanagement and loss of community trust.</a:t>
            </a:r>
          </a:p>
        </p:txBody>
      </p:sp>
      <p:sp>
        <p:nvSpPr>
          <p:cNvPr name="AutoShape 20" id="20"/>
          <p:cNvSpPr/>
          <p:nvPr/>
        </p:nvSpPr>
        <p:spPr>
          <a:xfrm rot="0" flipH="false" flipV="false">
            <a:off x="6477000" y="4000500"/>
            <a:ext cx="4953000" cy="2286000"/>
          </a:xfrm>
          <a:prstGeom prst="roundRect">
            <a:avLst>
              <a:gd name="adj" fmla="val 0"/>
            </a:avLst>
          </a:prstGeom>
          <a:solidFill>
            <a:srgbClr val="4ADE80">
              <a:alpha val="10000"/>
            </a:srgbClr>
          </a:solidFill>
          <a:ln w="12700" cmpd="sng" cap="flat">
            <a:solidFill>
              <a:srgbClr val="4ADE80">
                <a:alpha val="10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731000" y="4191000"/>
            <a:ext cx="457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4ADE80"/>
                </a:solidFill>
                <a:latin typeface="Noto Sans SC"/>
                <a:ea typeface="Noto Sans SC"/>
                <a:cs typeface="Noto Sans SC"/>
                <a:sym typeface="Noto Sans SC"/>
              </a:rPr>
              <a:t>The Core Solution: On-chain Automation</a:t>
            </a:r>
            <a:endParaRPr lang="en-US" sz="1100"/>
          </a:p>
        </p:txBody>
      </p:sp>
      <p:sp>
        <p:nvSpPr>
          <p:cNvPr name="AutoShape 22" id="22"/>
          <p:cNvSpPr/>
          <p:nvPr/>
        </p:nvSpPr>
        <p:spPr>
          <a:xfrm rot="0" flipH="false" flipV="false">
            <a:off x="6731000" y="4826000"/>
            <a:ext cx="1397000" cy="889000"/>
          </a:xfrm>
          <a:prstGeom prst="roundRect">
            <a:avLst>
              <a:gd name="adj" fmla="val 0"/>
            </a:avLst>
          </a:prstGeom>
          <a:solidFill>
            <a:srgbClr val="FFFFFF">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6731000" y="4953000"/>
            <a:ext cx="1397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FFFFFF"/>
                </a:solidFill>
                <a:latin typeface="Noto Sans SC"/>
                <a:ea typeface="Noto Sans SC"/>
                <a:cs typeface="Noto Sans SC"/>
                <a:sym typeface="Noto Sans SC"/>
              </a:rPr>
              <a:t>01 Proposal</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200">
                <a:solidFill>
                  <a:srgbClr val="9CA3AF"/>
                </a:solidFill>
                <a:latin typeface="Noto Sans SC"/>
                <a:ea typeface="Noto Sans SC"/>
                <a:cs typeface="Noto Sans SC"/>
                <a:sym typeface="Noto Sans SC"/>
              </a:rPr>
              <a:t>Community Submits</a:t>
            </a:r>
          </a:p>
        </p:txBody>
      </p:sp>
      <p:sp>
        <p:nvSpPr>
          <p:cNvPr name="AutoShape 24" id="24"/>
          <p:cNvSpPr/>
          <p:nvPr/>
        </p:nvSpPr>
        <p:spPr>
          <a:xfrm rot="0" flipH="false" flipV="false">
            <a:off x="8255000" y="4826000"/>
            <a:ext cx="1397000" cy="889000"/>
          </a:xfrm>
          <a:prstGeom prst="roundRect">
            <a:avLst>
              <a:gd name="adj" fmla="val 0"/>
            </a:avLst>
          </a:prstGeom>
          <a:solidFill>
            <a:srgbClr val="FFFFFF">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8255000" y="4953000"/>
            <a:ext cx="1397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FFFFFF"/>
                </a:solidFill>
                <a:latin typeface="Noto Sans SC"/>
                <a:ea typeface="Noto Sans SC"/>
                <a:cs typeface="Noto Sans SC"/>
                <a:sym typeface="Noto Sans SC"/>
              </a:rPr>
              <a:t>02 Vote</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200">
                <a:solidFill>
                  <a:srgbClr val="9CA3AF"/>
                </a:solidFill>
                <a:latin typeface="Noto Sans SC"/>
                <a:ea typeface="Noto Sans SC"/>
                <a:cs typeface="Noto Sans SC"/>
                <a:sym typeface="Noto Sans SC"/>
              </a:rPr>
              <a:t>Token Holder Poll</a:t>
            </a:r>
          </a:p>
        </p:txBody>
      </p:sp>
      <p:sp>
        <p:nvSpPr>
          <p:cNvPr name="AutoShape 26" id="26"/>
          <p:cNvSpPr/>
          <p:nvPr/>
        </p:nvSpPr>
        <p:spPr>
          <a:xfrm rot="0" flipH="false" flipV="false">
            <a:off x="9779000" y="4826000"/>
            <a:ext cx="1397000" cy="889000"/>
          </a:xfrm>
          <a:prstGeom prst="roundRect">
            <a:avLst>
              <a:gd name="adj" fmla="val 0"/>
            </a:avLst>
          </a:prstGeom>
          <a:solidFill>
            <a:srgbClr val="4ADE80">
              <a:alpha val="2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9779000" y="4953000"/>
            <a:ext cx="1397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4ADE80"/>
                </a:solidFill>
                <a:latin typeface="Noto Sans SC"/>
                <a:ea typeface="Noto Sans SC"/>
                <a:cs typeface="Noto Sans SC"/>
                <a:sym typeface="Noto Sans SC"/>
              </a:rPr>
              <a:t>03 Execute</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25000"/>
              </a:lnSpc>
            </a:pPr>
            <a:r>
              <a:rPr lang="en-US" b="false" i="false" strike="noStrike" u="none" sz="1200">
                <a:solidFill>
                  <a:srgbClr val="9CA3AF"/>
                </a:solidFill>
                <a:latin typeface="Noto Sans SC"/>
                <a:ea typeface="Noto Sans SC"/>
                <a:cs typeface="Noto Sans SC"/>
                <a:sym typeface="Noto Sans SC"/>
              </a:rPr>
              <a:t>Auto USDC Transfer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F293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8890000" y="-1905000"/>
            <a:ext cx="5080000" cy="5080000"/>
          </a:xfrm>
          <a:prstGeom prst="ellipse">
            <a:avLst/>
          </a:prstGeom>
          <a:solidFill>
            <a:srgbClr val="4ADE80">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270000" y="4445000"/>
            <a:ext cx="3810000" cy="3810000"/>
          </a:xfrm>
          <a:prstGeom prst="ellipse">
            <a:avLst/>
          </a:prstGeom>
          <a:solidFill>
            <a:srgbClr val="4ADE80">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Solution: ArcVote Treasury</a:t>
            </a:r>
            <a:endParaRPr lang="en-US" sz="1100"/>
          </a:p>
        </p:txBody>
      </p:sp>
      <p:sp>
        <p:nvSpPr>
          <p:cNvPr name="AutoShape 5" id="5"/>
          <p:cNvSpPr/>
          <p:nvPr/>
        </p:nvSpPr>
        <p:spPr>
          <a:xfrm rot="0" flipH="false" flipV="false">
            <a:off x="762000" y="14605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E5E7EB"/>
                </a:solidFill>
                <a:latin typeface="Noto Sans SC"/>
                <a:ea typeface="Noto Sans SC"/>
                <a:cs typeface="Noto Sans SC"/>
                <a:sym typeface="Noto Sans SC"/>
              </a:rPr>
              <a:t>ArcVote Treasury creates a seamless, fully on-chain treasury management loop, decentralizing funding proposals, voting decisions, and execution flow to reshape the transparency and efficiency of organizational fund governance.</a:t>
            </a:r>
            <a:endParaRPr lang="en-US" sz="1100"/>
          </a:p>
        </p:txBody>
      </p:sp>
      <p:sp>
        <p:nvSpPr>
          <p:cNvPr name="AutoShape 6" id="6"/>
          <p:cNvSpPr/>
          <p:nvPr/>
        </p:nvSpPr>
        <p:spPr>
          <a:xfrm rot="0" flipH="false" flipV="false">
            <a:off x="762000" y="2413000"/>
            <a:ext cx="3429000" cy="2794000"/>
          </a:xfrm>
          <a:prstGeom prst="roundRect">
            <a:avLst>
              <a:gd name="adj" fmla="val 0"/>
            </a:avLst>
          </a:prstGeom>
          <a:solidFill>
            <a:srgbClr val="37415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2413000"/>
            <a:ext cx="3429000" cy="508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730500"/>
            <a:ext cx="406400" cy="406400"/>
          </a:xfrm>
          <a:prstGeom prst="rect">
            <a:avLst/>
          </a:prstGeom>
        </p:spPr>
      </p:pic>
      <p:sp>
        <p:nvSpPr>
          <p:cNvPr name="AutoShape 9" id="9"/>
          <p:cNvSpPr/>
          <p:nvPr/>
        </p:nvSpPr>
        <p:spPr>
          <a:xfrm rot="0" flipH="false" flipV="false">
            <a:off x="1524000" y="2730500"/>
            <a:ext cx="2540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Noto Sans SC"/>
                <a:ea typeface="Noto Sans SC"/>
                <a:cs typeface="Noto Sans SC"/>
                <a:sym typeface="Noto Sans SC"/>
              </a:rPr>
              <a:t>Create Funding Proposals</a:t>
            </a:r>
            <a:endParaRPr lang="en-US" sz="1100"/>
          </a:p>
        </p:txBody>
      </p:sp>
      <p:sp>
        <p:nvSpPr>
          <p:cNvPr name="AutoShape 10" id="10"/>
          <p:cNvSpPr/>
          <p:nvPr/>
        </p:nvSpPr>
        <p:spPr>
          <a:xfrm rot="0" flipH="false" flipV="false">
            <a:off x="1016000" y="3365500"/>
            <a:ext cx="2921000" cy="158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Community members can initiate funding requests, specifying the recipient address, USDC amount, and detailed usage description. Proposals are stored on-chain to ensure information is authentic and traceable, providing a transparent basis for future decision-making.</a:t>
            </a:r>
            <a:endParaRPr lang="en-US" sz="1100"/>
          </a:p>
        </p:txBody>
      </p:sp>
      <p:sp>
        <p:nvSpPr>
          <p:cNvPr name="AutoShape 11" id="11"/>
          <p:cNvSpPr/>
          <p:nvPr/>
        </p:nvSpPr>
        <p:spPr>
          <a:xfrm rot="0" flipH="false" flipV="false">
            <a:off x="4381500" y="2413000"/>
            <a:ext cx="3429000" cy="2794000"/>
          </a:xfrm>
          <a:prstGeom prst="roundRect">
            <a:avLst>
              <a:gd name="adj" fmla="val 0"/>
            </a:avLst>
          </a:prstGeom>
          <a:solidFill>
            <a:srgbClr val="37415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381500" y="2413000"/>
            <a:ext cx="3429000" cy="508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35500" y="2730500"/>
            <a:ext cx="406400" cy="406400"/>
          </a:xfrm>
          <a:prstGeom prst="rect">
            <a:avLst/>
          </a:prstGeom>
        </p:spPr>
      </p:pic>
      <p:sp>
        <p:nvSpPr>
          <p:cNvPr name="AutoShape 14" id="14"/>
          <p:cNvSpPr/>
          <p:nvPr/>
        </p:nvSpPr>
        <p:spPr>
          <a:xfrm rot="0" flipH="false" flipV="false">
            <a:off x="5143500" y="2730500"/>
            <a:ext cx="2540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Noto Sans SC"/>
                <a:ea typeface="Noto Sans SC"/>
                <a:cs typeface="Noto Sans SC"/>
                <a:sym typeface="Noto Sans SC"/>
              </a:rPr>
              <a:t>Transparent On-chain Voting</a:t>
            </a:r>
            <a:endParaRPr lang="en-US" sz="1100"/>
          </a:p>
        </p:txBody>
      </p:sp>
      <p:sp>
        <p:nvSpPr>
          <p:cNvPr name="AutoShape 15" id="15"/>
          <p:cNvSpPr/>
          <p:nvPr/>
        </p:nvSpPr>
        <p:spPr>
          <a:xfrm rot="0" flipH="false" flipV="false">
            <a:off x="4635500" y="3365500"/>
            <a:ext cx="2921000" cy="158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Strictly adheres to the one-wallet-one-vote mechanism, ensuring voting results are verifiable on-chain. Based on smart contract automatic counting, it eliminates centralization and vote-buying risks, guaranteeing fairness and validity for each vote.</a:t>
            </a:r>
            <a:endParaRPr lang="en-US" sz="1100"/>
          </a:p>
        </p:txBody>
      </p:sp>
      <p:sp>
        <p:nvSpPr>
          <p:cNvPr name="AutoShape 16" id="16"/>
          <p:cNvSpPr/>
          <p:nvPr/>
        </p:nvSpPr>
        <p:spPr>
          <a:xfrm rot="0" flipH="false" flipV="false">
            <a:off x="8001000" y="2413000"/>
            <a:ext cx="3429000" cy="2794000"/>
          </a:xfrm>
          <a:prstGeom prst="roundRect">
            <a:avLst>
              <a:gd name="adj" fmla="val 0"/>
            </a:avLst>
          </a:prstGeom>
          <a:solidFill>
            <a:srgbClr val="37415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001000" y="2413000"/>
            <a:ext cx="3429000" cy="508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255000" y="2730500"/>
            <a:ext cx="406400" cy="406400"/>
          </a:xfrm>
          <a:prstGeom prst="rect">
            <a:avLst/>
          </a:prstGeom>
        </p:spPr>
      </p:pic>
      <p:sp>
        <p:nvSpPr>
          <p:cNvPr name="AutoShape 19" id="19"/>
          <p:cNvSpPr/>
          <p:nvPr/>
        </p:nvSpPr>
        <p:spPr>
          <a:xfrm rot="0" flipH="false" flipV="false">
            <a:off x="8763000" y="2730500"/>
            <a:ext cx="2540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Smart Contract Automatic Transfer</a:t>
            </a:r>
            <a:endParaRPr lang="en-US" sz="1100"/>
          </a:p>
        </p:txBody>
      </p:sp>
      <p:sp>
        <p:nvSpPr>
          <p:cNvPr name="AutoShape 20" id="20"/>
          <p:cNvSpPr/>
          <p:nvPr/>
        </p:nvSpPr>
        <p:spPr>
          <a:xfrm rot="0" flipH="false" flipV="false">
            <a:off x="8255000" y="3365500"/>
            <a:ext cx="2921000" cy="158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After a proposal passes, no manual intervention is required. The smart contract automatically executes the USDC transfer, sending funds directly from the treasury to the designated address. This eliminates human error and counterparty risks, achieving complete automation and security of fund flow.</a:t>
            </a:r>
            <a:endParaRPr lang="en-US" sz="1100"/>
          </a:p>
        </p:txBody>
      </p:sp>
      <p:sp>
        <p:nvSpPr>
          <p:cNvPr name="AutoShape 21" id="21"/>
          <p:cNvSpPr/>
          <p:nvPr/>
        </p:nvSpPr>
        <p:spPr>
          <a:xfrm rot="0" flipH="false" flipV="false">
            <a:off x="762000" y="5461000"/>
            <a:ext cx="10668000" cy="889000"/>
          </a:xfrm>
          <a:prstGeom prst="roundRect">
            <a:avLst>
              <a:gd name="adj" fmla="val 0"/>
            </a:avLst>
          </a:prstGeom>
          <a:solidFill>
            <a:srgbClr val="4ADE80">
              <a:alpha val="12000"/>
            </a:srgbClr>
          </a:solidFill>
          <a:ln w="12700" cmpd="sng" cap="flat">
            <a:solidFill>
              <a:srgbClr val="4ADE80">
                <a:alpha val="30000"/>
              </a:srgbClr>
            </a:solid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1016000" y="56515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A7F3D0"/>
                </a:solidFill>
                <a:latin typeface="Noto Sans SC"/>
                <a:ea typeface="Noto Sans SC"/>
                <a:cs typeface="Noto Sans SC"/>
                <a:sym typeface="Noto Sans SC"/>
              </a:rPr>
              <a:t>Core Value: Built on Arc's native USDC Layer 1 network, it achieves a trustless, highly transparent end-to-end treasury governance system, making every community fund transfer open, fair, and immutable.</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F293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8255000" y="-1270000"/>
            <a:ext cx="5080000" cy="5080000"/>
          </a:xfrm>
          <a:prstGeom prst="ellipse">
            <a:avLst/>
          </a:prstGeom>
          <a:solidFill>
            <a:srgbClr val="4ADE80">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270000" y="4445000"/>
            <a:ext cx="3810000" cy="3810000"/>
          </a:xfrm>
          <a:prstGeom prst="ellipse">
            <a:avLst/>
          </a:prstGeom>
          <a:solidFill>
            <a:srgbClr val="4ADE80">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Architecture</a:t>
            </a:r>
            <a:endParaRPr lang="en-US" sz="1100"/>
          </a:p>
        </p:txBody>
      </p:sp>
      <p:sp>
        <p:nvSpPr>
          <p:cNvPr name="AutoShape 5" id="5"/>
          <p:cNvSpPr/>
          <p:nvPr/>
        </p:nvSpPr>
        <p:spPr>
          <a:xfrm rot="0" flipH="false" flipV="false">
            <a:off x="762000" y="1651000"/>
            <a:ext cx="5334000" cy="1460500"/>
          </a:xfrm>
          <a:prstGeom prst="roundRect">
            <a:avLst>
              <a:gd name="adj" fmla="val 0"/>
            </a:avLst>
          </a:prstGeom>
          <a:solidFill>
            <a:srgbClr val="FFFFFF">
              <a:alpha val="6000"/>
            </a:srgbClr>
          </a:solidFill>
          <a:ln w="12700" cmpd="sng" cap="flat">
            <a:solidFill>
              <a:srgbClr val="4ADE80">
                <a:alpha val="25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1841500"/>
            <a:ext cx="355600" cy="355600"/>
          </a:xfrm>
          <a:prstGeom prst="rect">
            <a:avLst/>
          </a:prstGeom>
        </p:spPr>
      </p:pic>
      <p:sp>
        <p:nvSpPr>
          <p:cNvPr name="AutoShape 7" id="7"/>
          <p:cNvSpPr/>
          <p:nvPr/>
        </p:nvSpPr>
        <p:spPr>
          <a:xfrm rot="0" flipH="false" flipV="false">
            <a:off x="1460500" y="1841500"/>
            <a:ext cx="4508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ADE80"/>
                </a:solidFill>
                <a:latin typeface="Noto Sans SC"/>
                <a:ea typeface="Noto Sans SC"/>
                <a:cs typeface="Noto Sans SC"/>
                <a:sym typeface="Noto Sans SC"/>
              </a:rPr>
              <a:t>Smart Contract Core (Solidity)</a:t>
            </a:r>
            <a:endParaRPr lang="en-US" sz="1100"/>
          </a:p>
        </p:txBody>
      </p:sp>
      <p:sp>
        <p:nvSpPr>
          <p:cNvPr name="AutoShape 8" id="8"/>
          <p:cNvSpPr/>
          <p:nvPr/>
        </p:nvSpPr>
        <p:spPr>
          <a:xfrm rot="0" flipH="false" flipV="false">
            <a:off x="952500" y="2260600"/>
            <a:ext cx="4889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E5E7EB"/>
                </a:solidFill>
                <a:latin typeface="Noto Sans SC"/>
                <a:ea typeface="Noto Sans SC"/>
                <a:cs typeface="Noto Sans SC"/>
                <a:sym typeface="Noto Sans SC"/>
              </a:rPr>
              <a:t>The ArcVoteTreasury.sol contract on Arc Testnet handles proposal creation, secure vote tallying, and triggers trustless USDC transfers automatically upon successful proposal execution.</a:t>
            </a:r>
            <a:endParaRPr lang="en-US" sz="1100"/>
          </a:p>
        </p:txBody>
      </p:sp>
      <p:sp>
        <p:nvSpPr>
          <p:cNvPr name="AutoShape 9" id="9"/>
          <p:cNvSpPr/>
          <p:nvPr/>
        </p:nvSpPr>
        <p:spPr>
          <a:xfrm rot="0" flipH="false" flipV="false">
            <a:off x="762000" y="3238500"/>
            <a:ext cx="5334000" cy="1460500"/>
          </a:xfrm>
          <a:prstGeom prst="roundRect">
            <a:avLst>
              <a:gd name="adj" fmla="val 0"/>
            </a:avLst>
          </a:prstGeom>
          <a:solidFill>
            <a:srgbClr val="FFFFFF">
              <a:alpha val="6000"/>
            </a:srgbClr>
          </a:solidFill>
          <a:ln w="12700" cmpd="sng" cap="flat">
            <a:solidFill>
              <a:srgbClr val="4ADE80">
                <a:alpha val="25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52500" y="3429000"/>
            <a:ext cx="355600" cy="355600"/>
          </a:xfrm>
          <a:prstGeom prst="rect">
            <a:avLst/>
          </a:prstGeom>
        </p:spPr>
      </p:pic>
      <p:sp>
        <p:nvSpPr>
          <p:cNvPr name="AutoShape 11" id="11"/>
          <p:cNvSpPr/>
          <p:nvPr/>
        </p:nvSpPr>
        <p:spPr>
          <a:xfrm rot="0" flipH="false" flipV="false">
            <a:off x="1460500" y="3429000"/>
            <a:ext cx="4508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ADE80"/>
                </a:solidFill>
                <a:latin typeface="Noto Sans SC"/>
                <a:ea typeface="Noto Sans SC"/>
                <a:cs typeface="Noto Sans SC"/>
                <a:sym typeface="Noto Sans SC"/>
              </a:rPr>
              <a:t>Web3 Frontend Interface</a:t>
            </a:r>
            <a:endParaRPr lang="en-US" sz="1100"/>
          </a:p>
        </p:txBody>
      </p:sp>
      <p:sp>
        <p:nvSpPr>
          <p:cNvPr name="AutoShape 12" id="12"/>
          <p:cNvSpPr/>
          <p:nvPr/>
        </p:nvSpPr>
        <p:spPr>
          <a:xfrm rot="0" flipH="false" flipV="false">
            <a:off x="952500" y="3848100"/>
            <a:ext cx="4889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E5E7EB"/>
                </a:solidFill>
                <a:latin typeface="Noto Sans SC"/>
                <a:ea typeface="Noto Sans SC"/>
                <a:cs typeface="Noto Sans SC"/>
                <a:sym typeface="Noto Sans SC"/>
              </a:rPr>
              <a:t>A lightweight HTML/JS interface powered by ethers.js for seamless wallet connection (MetaMask), proposal submission, real-time vote monitoring, and user participation.</a:t>
            </a:r>
            <a:endParaRPr lang="en-US" sz="1100"/>
          </a:p>
        </p:txBody>
      </p:sp>
      <p:sp>
        <p:nvSpPr>
          <p:cNvPr name="AutoShape 13" id="13"/>
          <p:cNvSpPr/>
          <p:nvPr/>
        </p:nvSpPr>
        <p:spPr>
          <a:xfrm rot="0" flipH="false" flipV="false">
            <a:off x="762000" y="4826000"/>
            <a:ext cx="5334000" cy="1460500"/>
          </a:xfrm>
          <a:prstGeom prst="roundRect">
            <a:avLst>
              <a:gd name="adj" fmla="val 0"/>
            </a:avLst>
          </a:prstGeom>
          <a:solidFill>
            <a:srgbClr val="FFFFFF">
              <a:alpha val="6000"/>
            </a:srgbClr>
          </a:solidFill>
          <a:ln w="12700" cmpd="sng" cap="flat">
            <a:solidFill>
              <a:srgbClr val="4ADE80">
                <a:alpha val="25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52500" y="5016500"/>
            <a:ext cx="355600" cy="355600"/>
          </a:xfrm>
          <a:prstGeom prst="rect">
            <a:avLst/>
          </a:prstGeom>
        </p:spPr>
      </p:pic>
      <p:sp>
        <p:nvSpPr>
          <p:cNvPr name="AutoShape 15" id="15"/>
          <p:cNvSpPr/>
          <p:nvPr/>
        </p:nvSpPr>
        <p:spPr>
          <a:xfrm rot="0" flipH="false" flipV="false">
            <a:off x="1460500" y="5016500"/>
            <a:ext cx="4508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ADE80"/>
                </a:solidFill>
                <a:latin typeface="Noto Sans SC"/>
                <a:ea typeface="Noto Sans SC"/>
                <a:cs typeface="Noto Sans SC"/>
                <a:sym typeface="Noto Sans SC"/>
              </a:rPr>
              <a:t>Future: Circle Ecosystem Integration</a:t>
            </a:r>
            <a:endParaRPr lang="en-US" sz="1100"/>
          </a:p>
        </p:txBody>
      </p:sp>
      <p:sp>
        <p:nvSpPr>
          <p:cNvPr name="AutoShape 16" id="16"/>
          <p:cNvSpPr/>
          <p:nvPr/>
        </p:nvSpPr>
        <p:spPr>
          <a:xfrm rot="0" flipH="false" flipV="false">
            <a:off x="952500" y="5435600"/>
            <a:ext cx="4889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E5E7EB"/>
                </a:solidFill>
                <a:latin typeface="Noto Sans SC"/>
                <a:ea typeface="Noto Sans SC"/>
                <a:cs typeface="Noto Sans SC"/>
                <a:sym typeface="Noto Sans SC"/>
              </a:rPr>
              <a:t>Integrate Circle Wallets API &amp; Contracts to enable multi-step programmable payments, complex treasury workflows, and enhanced security for institutional use cases.</a:t>
            </a:r>
            <a:endParaRPr lang="en-US" sz="1100"/>
          </a:p>
        </p:txBody>
      </p:sp>
      <p:sp>
        <p:nvSpPr>
          <p:cNvPr name="AutoShape 17" id="17"/>
          <p:cNvSpPr/>
          <p:nvPr/>
        </p:nvSpPr>
        <p:spPr>
          <a:xfrm rot="0" flipH="false" flipV="false">
            <a:off x="6350000" y="1651000"/>
            <a:ext cx="5080000" cy="952500"/>
          </a:xfrm>
          <a:prstGeom prst="roundRect">
            <a:avLst>
              <a:gd name="adj" fmla="val 0"/>
            </a:avLst>
          </a:prstGeom>
          <a:solidFill>
            <a:srgbClr val="4ADE80">
              <a:alpha val="12000"/>
            </a:srgbClr>
          </a:solidFill>
          <a:ln w="12700" cmpd="sng" cap="flat">
            <a:solidFill>
              <a:srgbClr val="4ADE80">
                <a:alpha val="5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540500" y="1841500"/>
            <a:ext cx="304800" cy="304800"/>
          </a:xfrm>
          <a:prstGeom prst="rect">
            <a:avLst/>
          </a:prstGeom>
        </p:spPr>
      </p:pic>
      <p:sp>
        <p:nvSpPr>
          <p:cNvPr name="AutoShape 19" id="19"/>
          <p:cNvSpPr/>
          <p:nvPr/>
        </p:nvSpPr>
        <p:spPr>
          <a:xfrm rot="0" flipH="false" flipV="false">
            <a:off x="6985000" y="1803400"/>
            <a:ext cx="43815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solidFill>
                <a:latin typeface="Noto Sans SC"/>
                <a:ea typeface="Noto Sans SC"/>
                <a:cs typeface="Noto Sans SC"/>
                <a:sym typeface="Noto Sans SC"/>
              </a:rPr>
              <a:t>User Interaction Layer</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9CA3AF"/>
                </a:solidFill>
                <a:latin typeface="Noto Sans SC"/>
                <a:ea typeface="Noto Sans SC"/>
                <a:cs typeface="Noto Sans SC"/>
                <a:sym typeface="Noto Sans SC"/>
              </a:rPr>
              <a:t>Wallet Connection (MetaMask) → Proposal Creation → Voting</a:t>
            </a:r>
          </a:p>
        </p:txBody>
      </p:sp>
      <p:sp>
        <p:nvSpPr>
          <p:cNvPr name="AutoShape 20" id="20"/>
          <p:cNvSpPr/>
          <p:nvPr/>
        </p:nvSpPr>
        <p:spPr>
          <a:xfrm rot="0" flipH="false" flipV="false">
            <a:off x="8788400" y="2667000"/>
            <a:ext cx="203200" cy="203200"/>
          </a:xfrm>
          <a:prstGeom prst="downArrow">
            <a:avLst/>
          </a:prstGeom>
          <a:solidFill>
            <a:srgbClr val="4ADE80">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350000" y="2946400"/>
            <a:ext cx="5080000" cy="952500"/>
          </a:xfrm>
          <a:prstGeom prst="roundRect">
            <a:avLst>
              <a:gd name="adj" fmla="val 0"/>
            </a:avLst>
          </a:prstGeom>
          <a:solidFill>
            <a:srgbClr val="4ADE80">
              <a:alpha val="12000"/>
            </a:srgbClr>
          </a:solidFill>
          <a:ln w="12700" cmpd="sng" cap="flat">
            <a:solidFill>
              <a:srgbClr val="4ADE80">
                <a:alpha val="5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540500" y="3136900"/>
            <a:ext cx="304800" cy="304800"/>
          </a:xfrm>
          <a:prstGeom prst="rect">
            <a:avLst/>
          </a:prstGeom>
        </p:spPr>
      </p:pic>
      <p:sp>
        <p:nvSpPr>
          <p:cNvPr name="AutoShape 23" id="23"/>
          <p:cNvSpPr/>
          <p:nvPr/>
        </p:nvSpPr>
        <p:spPr>
          <a:xfrm rot="0" flipH="false" flipV="false">
            <a:off x="6985000" y="3098800"/>
            <a:ext cx="43815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solidFill>
                <a:latin typeface="Noto Sans SC"/>
                <a:ea typeface="Noto Sans SC"/>
                <a:cs typeface="Noto Sans SC"/>
                <a:sym typeface="Noto Sans SC"/>
              </a:rPr>
              <a:t>Web3 Middleware (ethers.js)</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9CA3AF"/>
                </a:solidFill>
                <a:latin typeface="Noto Sans SC"/>
                <a:ea typeface="Noto Sans SC"/>
                <a:cs typeface="Noto Sans SC"/>
                <a:sym typeface="Noto Sans SC"/>
              </a:rPr>
              <a:t>ABI Encoding → Transaction Signing → Gas Estimation</a:t>
            </a:r>
          </a:p>
        </p:txBody>
      </p:sp>
      <p:sp>
        <p:nvSpPr>
          <p:cNvPr name="AutoShape 24" id="24"/>
          <p:cNvSpPr/>
          <p:nvPr/>
        </p:nvSpPr>
        <p:spPr>
          <a:xfrm rot="0" flipH="false" flipV="false">
            <a:off x="8788400" y="3962400"/>
            <a:ext cx="203200" cy="203200"/>
          </a:xfrm>
          <a:prstGeom prst="downArrow">
            <a:avLst/>
          </a:prstGeom>
          <a:solidFill>
            <a:srgbClr val="4ADE80">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350000" y="4241800"/>
            <a:ext cx="5080000" cy="952500"/>
          </a:xfrm>
          <a:prstGeom prst="roundRect">
            <a:avLst>
              <a:gd name="adj" fmla="val 0"/>
            </a:avLst>
          </a:prstGeom>
          <a:solidFill>
            <a:srgbClr val="4ADE80">
              <a:alpha val="12000"/>
            </a:srgbClr>
          </a:solidFill>
          <a:ln w="12700" cmpd="sng" cap="flat">
            <a:solidFill>
              <a:srgbClr val="4ADE80">
                <a:alpha val="50000"/>
              </a:srgbClr>
            </a:solid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540500" y="4432300"/>
            <a:ext cx="304800" cy="304800"/>
          </a:xfrm>
          <a:prstGeom prst="rect">
            <a:avLst/>
          </a:prstGeom>
        </p:spPr>
      </p:pic>
      <p:sp>
        <p:nvSpPr>
          <p:cNvPr name="AutoShape 27" id="27"/>
          <p:cNvSpPr/>
          <p:nvPr/>
        </p:nvSpPr>
        <p:spPr>
          <a:xfrm rot="0" flipH="false" flipV="false">
            <a:off x="6985000" y="4394200"/>
            <a:ext cx="43815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solidFill>
                <a:latin typeface="Noto Sans SC"/>
                <a:ea typeface="Noto Sans SC"/>
                <a:cs typeface="Noto Sans SC"/>
                <a:sym typeface="Noto Sans SC"/>
              </a:rPr>
              <a:t>On-chain Execution (Arc Testnet)</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9CA3AF"/>
                </a:solidFill>
                <a:latin typeface="Noto Sans SC"/>
                <a:ea typeface="Noto Sans SC"/>
                <a:cs typeface="Noto Sans SC"/>
                <a:sym typeface="Noto Sans SC"/>
              </a:rPr>
              <a:t>State Validation → Vote Counting → USDC Transfer Logic</a:t>
            </a:r>
          </a:p>
        </p:txBody>
      </p:sp>
      <p:sp>
        <p:nvSpPr>
          <p:cNvPr name="AutoShape 28" id="28"/>
          <p:cNvSpPr/>
          <p:nvPr/>
        </p:nvSpPr>
        <p:spPr>
          <a:xfrm rot="0" flipH="false" flipV="false">
            <a:off x="6350000" y="5397500"/>
            <a:ext cx="5080000" cy="825500"/>
          </a:xfrm>
          <a:prstGeom prst="roundRect">
            <a:avLst>
              <a:gd name="adj" fmla="val 0"/>
            </a:avLst>
          </a:prstGeom>
          <a:solidFill>
            <a:srgbClr val="1F2937">
              <a:alpha val="100000"/>
            </a:srgbClr>
          </a:solidFill>
          <a:ln w="12700" cmpd="sng" cap="flat">
            <a:solidFill>
              <a:srgbClr val="4ADE80">
                <a:alpha val="30000"/>
              </a:srgbClr>
            </a:solidFill>
            <a:prstDash val="dash"/>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6477000" y="5524500"/>
            <a:ext cx="4826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300">
                <a:solidFill>
                  <a:srgbClr val="4ADE80"/>
                </a:solidFill>
                <a:latin typeface="Noto Sans SC"/>
                <a:ea typeface="Noto Sans SC"/>
                <a:cs typeface="Noto Sans SC"/>
                <a:sym typeface="Noto Sans SC"/>
              </a:rPr>
              <a:t>NETWORK BENEFITS:</a:t>
            </a:r>
            <a:r>
              <a:rPr lang="en-US" b="false" i="false" strike="noStrike" u="none" sz="1300">
                <a:solidFill>
                  <a:srgbClr val="D1D5DB"/>
                </a:solidFill>
                <a:latin typeface="Noto Sans SC"/>
                <a:ea typeface="Noto Sans SC"/>
                <a:cs typeface="Noto Sans SC"/>
                <a:sym typeface="Noto Sans SC"/>
              </a:rPr>
              <a:t>Arc Testnet uses USDC as native gas, eliminating ETH volatility, with sub-second finality for instant governance results.</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F293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0" y="-1270000"/>
            <a:ext cx="5080000" cy="5080000"/>
          </a:xfrm>
          <a:prstGeom prst="ellipse">
            <a:avLst/>
          </a:prstGeom>
          <a:solidFill>
            <a:srgbClr val="4ADE80">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270000" y="4445000"/>
            <a:ext cx="3810000" cy="3810000"/>
          </a:xfrm>
          <a:prstGeom prst="ellipse">
            <a:avLst/>
          </a:prstGeom>
          <a:solidFill>
            <a:srgbClr val="4ADE80">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Tech Stack &amp; Why Arc</a:t>
            </a:r>
            <a:endParaRPr lang="en-US" sz="1100"/>
          </a:p>
        </p:txBody>
      </p:sp>
      <p:sp>
        <p:nvSpPr>
          <p:cNvPr name="AutoShape 5" id="5"/>
          <p:cNvSpPr/>
          <p:nvPr/>
        </p:nvSpPr>
        <p:spPr>
          <a:xfrm rot="0" flipH="false" flipV="false">
            <a:off x="762000" y="1778000"/>
            <a:ext cx="2476500" cy="1968500"/>
          </a:xfrm>
          <a:prstGeom prst="roundRect">
            <a:avLst>
              <a:gd name="adj" fmla="val 0"/>
            </a:avLst>
          </a:prstGeom>
          <a:solidFill>
            <a:srgbClr val="37415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778000"/>
            <a:ext cx="50800" cy="19685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90600" y="2006600"/>
            <a:ext cx="304800" cy="304800"/>
          </a:xfrm>
          <a:prstGeom prst="rect">
            <a:avLst/>
          </a:prstGeom>
        </p:spPr>
      </p:pic>
      <p:sp>
        <p:nvSpPr>
          <p:cNvPr name="AutoShape 8" id="8"/>
          <p:cNvSpPr/>
          <p:nvPr/>
        </p:nvSpPr>
        <p:spPr>
          <a:xfrm rot="0" flipH="false" flipV="false">
            <a:off x="1371600" y="1981200"/>
            <a:ext cx="190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Smart Contracts</a:t>
            </a:r>
            <a:endParaRPr lang="en-US" sz="1100"/>
          </a:p>
        </p:txBody>
      </p:sp>
      <p:sp>
        <p:nvSpPr>
          <p:cNvPr name="AutoShape 9" id="9"/>
          <p:cNvSpPr/>
          <p:nvPr/>
        </p:nvSpPr>
        <p:spPr>
          <a:xfrm rot="0" flipH="false" flipV="false">
            <a:off x="990600" y="2476500"/>
            <a:ext cx="2095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1D5DB"/>
                </a:solidFill>
                <a:latin typeface="Noto Sans SC"/>
                <a:ea typeface="Noto Sans SC"/>
                <a:cs typeface="Noto Sans SC"/>
                <a:sym typeface="Noto Sans SC"/>
              </a:rPr>
              <a:t>Powered by Solidity &amp; Vyper, fully EVM-compatible for seamless development and deployment of secure financial logic.</a:t>
            </a:r>
            <a:endParaRPr lang="en-US" sz="1100"/>
          </a:p>
        </p:txBody>
      </p:sp>
      <p:sp>
        <p:nvSpPr>
          <p:cNvPr name="AutoShape 10" id="10"/>
          <p:cNvSpPr/>
          <p:nvPr/>
        </p:nvSpPr>
        <p:spPr>
          <a:xfrm rot="0" flipH="false" flipV="false">
            <a:off x="3492500" y="1778000"/>
            <a:ext cx="2476500" cy="1968500"/>
          </a:xfrm>
          <a:prstGeom prst="roundRect">
            <a:avLst>
              <a:gd name="adj" fmla="val 0"/>
            </a:avLst>
          </a:prstGeom>
          <a:solidFill>
            <a:srgbClr val="37415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3492500" y="1778000"/>
            <a:ext cx="50800" cy="19685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721100" y="2006600"/>
            <a:ext cx="304800" cy="304800"/>
          </a:xfrm>
          <a:prstGeom prst="rect">
            <a:avLst/>
          </a:prstGeom>
        </p:spPr>
      </p:pic>
      <p:sp>
        <p:nvSpPr>
          <p:cNvPr name="AutoShape 13" id="13"/>
          <p:cNvSpPr/>
          <p:nvPr/>
        </p:nvSpPr>
        <p:spPr>
          <a:xfrm rot="0" flipH="false" flipV="false">
            <a:off x="4102100" y="1981200"/>
            <a:ext cx="190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Arc L1 Protocol</a:t>
            </a:r>
            <a:endParaRPr lang="en-US" sz="1100"/>
          </a:p>
        </p:txBody>
      </p:sp>
      <p:sp>
        <p:nvSpPr>
          <p:cNvPr name="AutoShape 14" id="14"/>
          <p:cNvSpPr/>
          <p:nvPr/>
        </p:nvSpPr>
        <p:spPr>
          <a:xfrm rot="0" flipH="false" flipV="false">
            <a:off x="3721100" y="2476500"/>
            <a:ext cx="2095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1D5DB"/>
                </a:solidFill>
                <a:latin typeface="Noto Sans SC"/>
                <a:ea typeface="Noto Sans SC"/>
                <a:cs typeface="Noto Sans SC"/>
                <a:sym typeface="Noto Sans SC"/>
              </a:rPr>
              <a:t>High-throughput Layer 1 blockchain with native USDC integration, designed for scalability and low-latency transactions.</a:t>
            </a:r>
            <a:endParaRPr lang="en-US" sz="1100"/>
          </a:p>
        </p:txBody>
      </p:sp>
      <p:sp>
        <p:nvSpPr>
          <p:cNvPr name="AutoShape 15" id="15"/>
          <p:cNvSpPr/>
          <p:nvPr/>
        </p:nvSpPr>
        <p:spPr>
          <a:xfrm rot="0" flipH="false" flipV="false">
            <a:off x="762000" y="4000500"/>
            <a:ext cx="2476500" cy="1968500"/>
          </a:xfrm>
          <a:prstGeom prst="roundRect">
            <a:avLst>
              <a:gd name="adj" fmla="val 0"/>
            </a:avLst>
          </a:prstGeom>
          <a:solidFill>
            <a:srgbClr val="37415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762000" y="4000500"/>
            <a:ext cx="50800" cy="19685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90600" y="4229100"/>
            <a:ext cx="304800" cy="304800"/>
          </a:xfrm>
          <a:prstGeom prst="rect">
            <a:avLst/>
          </a:prstGeom>
        </p:spPr>
      </p:pic>
      <p:sp>
        <p:nvSpPr>
          <p:cNvPr name="AutoShape 18" id="18"/>
          <p:cNvSpPr/>
          <p:nvPr/>
        </p:nvSpPr>
        <p:spPr>
          <a:xfrm rot="0" flipH="false" flipV="false">
            <a:off x="1371600" y="4203700"/>
            <a:ext cx="190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Circle Integration</a:t>
            </a:r>
            <a:endParaRPr lang="en-US" sz="1100"/>
          </a:p>
        </p:txBody>
      </p:sp>
      <p:sp>
        <p:nvSpPr>
          <p:cNvPr name="AutoShape 19" id="19"/>
          <p:cNvSpPr/>
          <p:nvPr/>
        </p:nvSpPr>
        <p:spPr>
          <a:xfrm rot="0" flipH="false" flipV="false">
            <a:off x="990600" y="4699000"/>
            <a:ext cx="2095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1D5DB"/>
                </a:solidFill>
                <a:latin typeface="Noto Sans SC"/>
                <a:ea typeface="Noto Sans SC"/>
                <a:cs typeface="Noto Sans SC"/>
                <a:sym typeface="Noto Sans SC"/>
              </a:rPr>
              <a:t>Seamless APIs for managed wallets and custody solutions, ensuring enterprise-grade security for treasury operations.</a:t>
            </a:r>
            <a:endParaRPr lang="en-US" sz="1100"/>
          </a:p>
        </p:txBody>
      </p:sp>
      <p:sp>
        <p:nvSpPr>
          <p:cNvPr name="AutoShape 20" id="20"/>
          <p:cNvSpPr/>
          <p:nvPr/>
        </p:nvSpPr>
        <p:spPr>
          <a:xfrm rot="0" flipH="false" flipV="false">
            <a:off x="3492500" y="4000500"/>
            <a:ext cx="2476500" cy="1968500"/>
          </a:xfrm>
          <a:prstGeom prst="roundRect">
            <a:avLst>
              <a:gd name="adj" fmla="val 0"/>
            </a:avLst>
          </a:prstGeom>
          <a:solidFill>
            <a:srgbClr val="37415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3492500" y="4000500"/>
            <a:ext cx="50800" cy="1968500"/>
          </a:xfrm>
          <a:prstGeom prst="roundRect">
            <a:avLst>
              <a:gd name="adj" fmla="val 0"/>
            </a:avLst>
          </a:prstGeom>
          <a:solidFill>
            <a:srgbClr val="4ADE8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3721100" y="4229100"/>
            <a:ext cx="304800" cy="304800"/>
          </a:xfrm>
          <a:prstGeom prst="rect">
            <a:avLst/>
          </a:prstGeom>
        </p:spPr>
      </p:pic>
      <p:sp>
        <p:nvSpPr>
          <p:cNvPr name="AutoShape 23" id="23"/>
          <p:cNvSpPr/>
          <p:nvPr/>
        </p:nvSpPr>
        <p:spPr>
          <a:xfrm rot="0" flipH="false" flipV="false">
            <a:off x="4102100" y="4203700"/>
            <a:ext cx="190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Frontend SDKs</a:t>
            </a:r>
            <a:endParaRPr lang="en-US" sz="1100"/>
          </a:p>
        </p:txBody>
      </p:sp>
      <p:sp>
        <p:nvSpPr>
          <p:cNvPr name="AutoShape 24" id="24"/>
          <p:cNvSpPr/>
          <p:nvPr/>
        </p:nvSpPr>
        <p:spPr>
          <a:xfrm rot="0" flipH="false" flipV="false">
            <a:off x="3721100" y="4699000"/>
            <a:ext cx="2095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1D5DB"/>
                </a:solidFill>
                <a:latin typeface="Noto Sans SC"/>
                <a:ea typeface="Noto Sans SC"/>
                <a:cs typeface="Noto Sans SC"/>
                <a:sym typeface="Noto Sans SC"/>
              </a:rPr>
              <a:t>Built with ethers.js for robust Web3 interaction, paired with React for a responsive and secure user experience.</a:t>
            </a:r>
            <a:endParaRPr lang="en-US" sz="1100"/>
          </a:p>
        </p:txBody>
      </p:sp>
      <p:sp>
        <p:nvSpPr>
          <p:cNvPr name="AutoShape 25" id="25"/>
          <p:cNvSpPr/>
          <p:nvPr/>
        </p:nvSpPr>
        <p:spPr>
          <a:xfrm rot="0" flipH="false" flipV="false">
            <a:off x="6223000" y="1778000"/>
            <a:ext cx="5207000" cy="1333500"/>
          </a:xfrm>
          <a:prstGeom prst="roundRect">
            <a:avLst>
              <a:gd name="adj" fmla="val 0"/>
            </a:avLst>
          </a:prstGeom>
          <a:solidFill>
            <a:srgbClr val="4ADE80">
              <a:alpha val="8000"/>
            </a:srgbClr>
          </a:solidFill>
          <a:ln w="12700" cmpd="sng" cap="flat">
            <a:solidFill>
              <a:srgbClr val="4ADE80">
                <a:alpha val="20000"/>
              </a:srgbClr>
            </a:solid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451600" y="1968500"/>
            <a:ext cx="406400" cy="406400"/>
          </a:xfrm>
          <a:prstGeom prst="rect">
            <a:avLst/>
          </a:prstGeom>
        </p:spPr>
      </p:pic>
      <p:sp>
        <p:nvSpPr>
          <p:cNvPr name="AutoShape 27" id="27"/>
          <p:cNvSpPr/>
          <p:nvPr/>
        </p:nvSpPr>
        <p:spPr>
          <a:xfrm rot="0" flipH="false" flipV="false">
            <a:off x="6985000" y="1968500"/>
            <a:ext cx="431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700">
                <a:solidFill>
                  <a:srgbClr val="FFFFFF"/>
                </a:solidFill>
                <a:latin typeface="Noto Sans SC"/>
                <a:ea typeface="Noto Sans SC"/>
                <a:cs typeface="Noto Sans SC"/>
                <a:sym typeface="Noto Sans SC"/>
              </a:rPr>
              <a:t>Predictable USDC Gas Fees</a:t>
            </a:r>
            <a:endParaRPr lang="en-US" sz="1100"/>
          </a:p>
        </p:txBody>
      </p:sp>
      <p:sp>
        <p:nvSpPr>
          <p:cNvPr name="AutoShape 28" id="28"/>
          <p:cNvSpPr/>
          <p:nvPr/>
        </p:nvSpPr>
        <p:spPr>
          <a:xfrm rot="0" flipH="false" flipV="false">
            <a:off x="6985000" y="2387600"/>
            <a:ext cx="431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E5E7EB"/>
                </a:solidFill>
                <a:latin typeface="Noto Sans SC"/>
                <a:ea typeface="Noto Sans SC"/>
                <a:cs typeface="Noto Sans SC"/>
                <a:sym typeface="Noto Sans SC"/>
              </a:rPr>
              <a:t>Eliminate crypto volatility from operational costs. Using USDC for gas ensures treasury budgets remain stable and transaction costs are fully forecastable.</a:t>
            </a:r>
            <a:endParaRPr lang="en-US" sz="1100"/>
          </a:p>
        </p:txBody>
      </p:sp>
      <p:sp>
        <p:nvSpPr>
          <p:cNvPr name="AutoShape 29" id="29"/>
          <p:cNvSpPr/>
          <p:nvPr/>
        </p:nvSpPr>
        <p:spPr>
          <a:xfrm rot="0" flipH="false" flipV="false">
            <a:off x="6223000" y="3276600"/>
            <a:ext cx="5207000" cy="1333500"/>
          </a:xfrm>
          <a:prstGeom prst="roundRect">
            <a:avLst>
              <a:gd name="adj" fmla="val 0"/>
            </a:avLst>
          </a:prstGeom>
          <a:solidFill>
            <a:srgbClr val="4ADE80">
              <a:alpha val="8000"/>
            </a:srgbClr>
          </a:solidFill>
          <a:ln w="12700" cmpd="sng" cap="flat">
            <a:solidFill>
              <a:srgbClr val="4ADE80">
                <a:alpha val="20000"/>
              </a:srgbClr>
            </a:solid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451600" y="3467100"/>
            <a:ext cx="406400" cy="406400"/>
          </a:xfrm>
          <a:prstGeom prst="rect">
            <a:avLst/>
          </a:prstGeom>
        </p:spPr>
      </p:pic>
      <p:sp>
        <p:nvSpPr>
          <p:cNvPr name="AutoShape 31" id="31"/>
          <p:cNvSpPr/>
          <p:nvPr/>
        </p:nvSpPr>
        <p:spPr>
          <a:xfrm rot="0" flipH="false" flipV="false">
            <a:off x="6985000" y="3467100"/>
            <a:ext cx="431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700">
                <a:solidFill>
                  <a:srgbClr val="FFFFFF"/>
                </a:solidFill>
                <a:latin typeface="Noto Sans SC"/>
                <a:ea typeface="Noto Sans SC"/>
                <a:cs typeface="Noto Sans SC"/>
                <a:sym typeface="Noto Sans SC"/>
              </a:rPr>
              <a:t>Sub-Second Finality</a:t>
            </a:r>
            <a:endParaRPr lang="en-US" sz="1100"/>
          </a:p>
        </p:txBody>
      </p:sp>
      <p:sp>
        <p:nvSpPr>
          <p:cNvPr name="AutoShape 32" id="32"/>
          <p:cNvSpPr/>
          <p:nvPr/>
        </p:nvSpPr>
        <p:spPr>
          <a:xfrm rot="0" flipH="false" flipV="false">
            <a:off x="6985000" y="3886200"/>
            <a:ext cx="431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E5E7EB"/>
                </a:solidFill>
                <a:latin typeface="Noto Sans SC"/>
                <a:ea typeface="Noto Sans SC"/>
                <a:cs typeface="Noto Sans SC"/>
                <a:sym typeface="Noto Sans SC"/>
              </a:rPr>
              <a:t>Arc’s instant settlement removes counterparty risk entirely, enabling immediate confirmation of treasury movements and accelerating critical financial workflows.</a:t>
            </a:r>
            <a:endParaRPr lang="en-US" sz="1100"/>
          </a:p>
        </p:txBody>
      </p:sp>
      <p:sp>
        <p:nvSpPr>
          <p:cNvPr name="AutoShape 33" id="33"/>
          <p:cNvSpPr/>
          <p:nvPr/>
        </p:nvSpPr>
        <p:spPr>
          <a:xfrm rot="0" flipH="false" flipV="false">
            <a:off x="6223000" y="4775200"/>
            <a:ext cx="5207000" cy="1333500"/>
          </a:xfrm>
          <a:prstGeom prst="roundRect">
            <a:avLst>
              <a:gd name="adj" fmla="val 0"/>
            </a:avLst>
          </a:prstGeom>
          <a:solidFill>
            <a:srgbClr val="4ADE80">
              <a:alpha val="8000"/>
            </a:srgbClr>
          </a:solidFill>
          <a:ln w="12700" cmpd="sng" cap="flat">
            <a:solidFill>
              <a:srgbClr val="4ADE80">
                <a:alpha val="20000"/>
              </a:srgbClr>
            </a:solidFill>
            <a:prstDash val="solid"/>
            <a:round/>
          </a:ln>
        </p:spPr>
        <p:txBody>
          <a:bodyPr anchor="ctr" rtlCol="false" vert="horz" wrap="square" lIns="63500" rIns="63500" tIns="63500" bIns="63500"/>
          <a:lstStyle/>
          <a:p>
            <a:pPr algn="ctr">
              <a:defRPr/>
            </a:pPr>
            <a:endParaRPr/>
          </a:p>
        </p:txBody>
      </p:sp>
      <p:pic>
        <p:nvPicPr>
          <p:cNvPr name="Picture 34" id="34"/>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6451600" y="4965700"/>
            <a:ext cx="406400" cy="406400"/>
          </a:xfrm>
          <a:prstGeom prst="rect">
            <a:avLst/>
          </a:prstGeom>
        </p:spPr>
      </p:pic>
      <p:sp>
        <p:nvSpPr>
          <p:cNvPr name="AutoShape 35" id="35"/>
          <p:cNvSpPr/>
          <p:nvPr/>
        </p:nvSpPr>
        <p:spPr>
          <a:xfrm rot="0" flipH="false" flipV="false">
            <a:off x="6985000" y="4965700"/>
            <a:ext cx="431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700">
                <a:solidFill>
                  <a:srgbClr val="FFFFFF"/>
                </a:solidFill>
                <a:latin typeface="Noto Sans SC"/>
                <a:ea typeface="Noto Sans SC"/>
                <a:cs typeface="Noto Sans SC"/>
                <a:sym typeface="Noto Sans SC"/>
              </a:rPr>
              <a:t>USDC-Native Ecosystem</a:t>
            </a:r>
            <a:endParaRPr lang="en-US" sz="1100"/>
          </a:p>
        </p:txBody>
      </p:sp>
      <p:sp>
        <p:nvSpPr>
          <p:cNvPr name="AutoShape 36" id="36"/>
          <p:cNvSpPr/>
          <p:nvPr/>
        </p:nvSpPr>
        <p:spPr>
          <a:xfrm rot="0" flipH="false" flipV="false">
            <a:off x="6985000" y="5384800"/>
            <a:ext cx="431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E5E7EB"/>
                </a:solidFill>
                <a:latin typeface="Noto Sans SC"/>
                <a:ea typeface="Noto Sans SC"/>
                <a:cs typeface="Noto Sans SC"/>
                <a:sym typeface="Noto Sans SC"/>
              </a:rPr>
              <a:t>Built as a USDC-native L1, it simplifies DeFi integrations and ensures deep liquidity, streamlining treasury management without complex cross-chain bridges.</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F293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8890000" y="-1270000"/>
            <a:ext cx="5080000" cy="5080000"/>
          </a:xfrm>
          <a:prstGeom prst="ellipse">
            <a:avLst/>
          </a:prstGeom>
          <a:solidFill>
            <a:srgbClr val="4ADE80">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270000" y="4445000"/>
            <a:ext cx="3810000" cy="3810000"/>
          </a:xfrm>
          <a:prstGeom prst="ellipse">
            <a:avLst/>
          </a:prstGeom>
          <a:solidFill>
            <a:srgbClr val="4ADE80">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Current Status &amp; Next Steps</a:t>
            </a:r>
            <a:endParaRPr lang="en-US" sz="1100"/>
          </a:p>
        </p:txBody>
      </p:sp>
      <p:sp>
        <p:nvSpPr>
          <p:cNvPr name="AutoShape 5" id="5"/>
          <p:cNvSpPr/>
          <p:nvPr/>
        </p:nvSpPr>
        <p:spPr>
          <a:xfrm rot="0" flipH="false" flipV="false">
            <a:off x="762000" y="1524000"/>
            <a:ext cx="1066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4ADE80"/>
                </a:solidFill>
                <a:latin typeface="Noto Sans SC"/>
                <a:ea typeface="Noto Sans SC"/>
                <a:cs typeface="Noto Sans SC"/>
                <a:sym typeface="Noto Sans SC"/>
              </a:rPr>
              <a:t>01. Project Milestones (In Progress)</a:t>
            </a:r>
            <a:endParaRPr lang="en-US" sz="1100"/>
          </a:p>
        </p:txBody>
      </p:sp>
      <p:sp>
        <p:nvSpPr>
          <p:cNvPr name="AutoShape 6" id="6"/>
          <p:cNvSpPr/>
          <p:nvPr/>
        </p:nvSpPr>
        <p:spPr>
          <a:xfrm rot="0" flipH="false" flipV="false">
            <a:off x="762000" y="2095500"/>
            <a:ext cx="2603500" cy="1714500"/>
          </a:xfrm>
          <a:prstGeom prst="roundRect">
            <a:avLst>
              <a:gd name="adj" fmla="val 0"/>
            </a:avLst>
          </a:prstGeom>
          <a:solidFill>
            <a:srgbClr val="374151">
              <a:alpha val="60000"/>
            </a:srgbClr>
          </a:solidFill>
          <a:ln w="12700" cmpd="sng" cap="flat">
            <a:solidFill>
              <a:srgbClr val="4ADE80">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2286000"/>
            <a:ext cx="304800" cy="304800"/>
          </a:xfrm>
          <a:prstGeom prst="rect">
            <a:avLst/>
          </a:prstGeom>
        </p:spPr>
      </p:pic>
      <p:sp>
        <p:nvSpPr>
          <p:cNvPr name="AutoShape 8" id="8"/>
          <p:cNvSpPr/>
          <p:nvPr/>
        </p:nvSpPr>
        <p:spPr>
          <a:xfrm rot="0" flipH="false" flipV="false">
            <a:off x="1333500" y="2286000"/>
            <a:ext cx="190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solidFill>
                <a:latin typeface="Noto Sans SC"/>
                <a:ea typeface="Noto Sans SC"/>
                <a:cs typeface="Noto Sans SC"/>
                <a:sym typeface="Noto Sans SC"/>
              </a:rPr>
              <a:t>Core Contract Ready</a:t>
            </a:r>
            <a:endParaRPr lang="en-US" sz="1100"/>
          </a:p>
        </p:txBody>
      </p:sp>
      <p:sp>
        <p:nvSpPr>
          <p:cNvPr name="AutoShape 9" id="9"/>
          <p:cNvSpPr/>
          <p:nvPr/>
        </p:nvSpPr>
        <p:spPr>
          <a:xfrm rot="0" flipH="false" flipV="false">
            <a:off x="952500" y="2730500"/>
            <a:ext cx="2222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Smart contract logic for proposals, voting, and auto-execution is fully coded, audited, and validated.</a:t>
            </a:r>
            <a:endParaRPr lang="en-US" sz="1100"/>
          </a:p>
        </p:txBody>
      </p:sp>
      <p:sp>
        <p:nvSpPr>
          <p:cNvPr name="AutoShape 10" id="10"/>
          <p:cNvSpPr/>
          <p:nvPr/>
        </p:nvSpPr>
        <p:spPr>
          <a:xfrm rot="0" flipH="false" flipV="false">
            <a:off x="3530600" y="2095500"/>
            <a:ext cx="2603500" cy="1714500"/>
          </a:xfrm>
          <a:prstGeom prst="roundRect">
            <a:avLst>
              <a:gd name="adj" fmla="val 0"/>
            </a:avLst>
          </a:prstGeom>
          <a:solidFill>
            <a:srgbClr val="374151">
              <a:alpha val="60000"/>
            </a:srgbClr>
          </a:solidFill>
          <a:ln w="12700" cmpd="sng" cap="flat">
            <a:solidFill>
              <a:srgbClr val="4ADE80">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3721100" y="2286000"/>
            <a:ext cx="304800" cy="304800"/>
          </a:xfrm>
          <a:prstGeom prst="rect">
            <a:avLst/>
          </a:prstGeom>
        </p:spPr>
      </p:pic>
      <p:sp>
        <p:nvSpPr>
          <p:cNvPr name="AutoShape 12" id="12"/>
          <p:cNvSpPr/>
          <p:nvPr/>
        </p:nvSpPr>
        <p:spPr>
          <a:xfrm rot="0" flipH="false" flipV="false">
            <a:off x="4102100" y="2286000"/>
            <a:ext cx="190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solidFill>
                <a:latin typeface="Noto Sans SC"/>
                <a:ea typeface="Noto Sans SC"/>
                <a:cs typeface="Noto Sans SC"/>
                <a:sym typeface="Noto Sans SC"/>
              </a:rPr>
              <a:t>Frontend UI Built</a:t>
            </a:r>
            <a:endParaRPr lang="en-US" sz="1100"/>
          </a:p>
        </p:txBody>
      </p:sp>
      <p:sp>
        <p:nvSpPr>
          <p:cNvPr name="AutoShape 13" id="13"/>
          <p:cNvSpPr/>
          <p:nvPr/>
        </p:nvSpPr>
        <p:spPr>
          <a:xfrm rot="0" flipH="false" flipV="false">
            <a:off x="3721100" y="2730500"/>
            <a:ext cx="2222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A functional interface is developed to connect users with the smart contract seamlessly.</a:t>
            </a:r>
            <a:endParaRPr lang="en-US" sz="1100"/>
          </a:p>
        </p:txBody>
      </p:sp>
      <p:sp>
        <p:nvSpPr>
          <p:cNvPr name="AutoShape 14" id="14"/>
          <p:cNvSpPr/>
          <p:nvPr/>
        </p:nvSpPr>
        <p:spPr>
          <a:xfrm rot="0" flipH="false" flipV="false">
            <a:off x="6299200" y="2095500"/>
            <a:ext cx="2603500" cy="1714500"/>
          </a:xfrm>
          <a:prstGeom prst="roundRect">
            <a:avLst>
              <a:gd name="adj" fmla="val 0"/>
            </a:avLst>
          </a:prstGeom>
          <a:solidFill>
            <a:srgbClr val="374151">
              <a:alpha val="60000"/>
            </a:srgbClr>
          </a:solidFill>
          <a:ln w="12700" cmpd="sng" cap="flat">
            <a:solidFill>
              <a:srgbClr val="9CA3AF">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89700" y="2286000"/>
            <a:ext cx="304800" cy="304800"/>
          </a:xfrm>
          <a:prstGeom prst="rect">
            <a:avLst/>
          </a:prstGeom>
        </p:spPr>
      </p:pic>
      <p:sp>
        <p:nvSpPr>
          <p:cNvPr name="AutoShape 16" id="16"/>
          <p:cNvSpPr/>
          <p:nvPr/>
        </p:nvSpPr>
        <p:spPr>
          <a:xfrm rot="0" flipH="false" flipV="false">
            <a:off x="6870700" y="2286000"/>
            <a:ext cx="190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solidFill>
                <a:latin typeface="Noto Sans SC"/>
                <a:ea typeface="Noto Sans SC"/>
                <a:cs typeface="Noto Sans SC"/>
                <a:sym typeface="Noto Sans SC"/>
              </a:rPr>
              <a:t>Arc Testnet Deploy</a:t>
            </a:r>
            <a:endParaRPr lang="en-US" sz="1100"/>
          </a:p>
        </p:txBody>
      </p:sp>
      <p:sp>
        <p:nvSpPr>
          <p:cNvPr name="AutoShape 17" id="17"/>
          <p:cNvSpPr/>
          <p:nvPr/>
        </p:nvSpPr>
        <p:spPr>
          <a:xfrm rot="0" flipH="false" flipV="false">
            <a:off x="6489700" y="2730500"/>
            <a:ext cx="2222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Contract deployment to the test network is in progress; running stability checks.</a:t>
            </a:r>
            <a:endParaRPr lang="en-US" sz="1100"/>
          </a:p>
        </p:txBody>
      </p:sp>
      <p:sp>
        <p:nvSpPr>
          <p:cNvPr name="AutoShape 18" id="18"/>
          <p:cNvSpPr/>
          <p:nvPr/>
        </p:nvSpPr>
        <p:spPr>
          <a:xfrm rot="0" flipH="false" flipV="false">
            <a:off x="9067800" y="2095500"/>
            <a:ext cx="2603500" cy="1714500"/>
          </a:xfrm>
          <a:prstGeom prst="roundRect">
            <a:avLst>
              <a:gd name="adj" fmla="val 0"/>
            </a:avLst>
          </a:prstGeom>
          <a:solidFill>
            <a:srgbClr val="374151">
              <a:alpha val="60000"/>
            </a:srgbClr>
          </a:solidFill>
          <a:ln w="12700" cmpd="sng" cap="flat">
            <a:solidFill>
              <a:srgbClr val="9CA3AF">
                <a:alpha val="3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258300" y="2286000"/>
            <a:ext cx="304800" cy="304800"/>
          </a:xfrm>
          <a:prstGeom prst="rect">
            <a:avLst/>
          </a:prstGeom>
        </p:spPr>
      </p:pic>
      <p:sp>
        <p:nvSpPr>
          <p:cNvPr name="AutoShape 20" id="20"/>
          <p:cNvSpPr/>
          <p:nvPr/>
        </p:nvSpPr>
        <p:spPr>
          <a:xfrm rot="0" flipH="false" flipV="false">
            <a:off x="9639300" y="2286000"/>
            <a:ext cx="190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solidFill>
                <a:latin typeface="Noto Sans SC"/>
                <a:ea typeface="Noto Sans SC"/>
                <a:cs typeface="Noto Sans SC"/>
                <a:sym typeface="Noto Sans SC"/>
              </a:rPr>
              <a:t>Circle API Integration</a:t>
            </a:r>
            <a:endParaRPr lang="en-US" sz="1100"/>
          </a:p>
        </p:txBody>
      </p:sp>
      <p:sp>
        <p:nvSpPr>
          <p:cNvPr name="AutoShape 21" id="21"/>
          <p:cNvSpPr/>
          <p:nvPr/>
        </p:nvSpPr>
        <p:spPr>
          <a:xfrm rot="0" flipH="false" flipV="false">
            <a:off x="9258300" y="2730500"/>
            <a:ext cx="2222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Noto Sans SC"/>
                <a:ea typeface="Noto Sans SC"/>
                <a:cs typeface="Noto Sans SC"/>
                <a:sym typeface="Noto Sans SC"/>
              </a:rPr>
              <a:t>Initial setup and sandbox testing for integrating Circle Wallets API are underway.</a:t>
            </a:r>
            <a:endParaRPr lang="en-US" sz="1100"/>
          </a:p>
        </p:txBody>
      </p:sp>
      <p:cxnSp>
        <p:nvCxnSpPr>
          <p:cNvPr name="Connector 22" id="22"/>
          <p:cNvCxnSpPr/>
          <p:nvPr/>
        </p:nvCxnSpPr>
        <p:spPr>
          <a:xfrm rot="-4092" flipH="false" flipV="false">
            <a:off x="762004" y="4184650"/>
            <a:ext cx="10668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23" id="23"/>
          <p:cNvSpPr/>
          <p:nvPr/>
        </p:nvSpPr>
        <p:spPr>
          <a:xfrm rot="0" flipH="false" flipV="false">
            <a:off x="762000" y="4381500"/>
            <a:ext cx="1066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4ADE80"/>
                </a:solidFill>
                <a:latin typeface="Noto Sans SC"/>
                <a:ea typeface="Noto Sans SC"/>
                <a:cs typeface="Noto Sans SC"/>
                <a:sym typeface="Noto Sans SC"/>
              </a:rPr>
              <a:t>02. Strategic Final Goals</a:t>
            </a:r>
            <a:endParaRPr lang="en-US" sz="1100"/>
          </a:p>
        </p:txBody>
      </p:sp>
      <p:sp>
        <p:nvSpPr>
          <p:cNvPr name="AutoShape 24" id="24"/>
          <p:cNvSpPr/>
          <p:nvPr/>
        </p:nvSpPr>
        <p:spPr>
          <a:xfrm rot="0" flipH="false" flipV="false">
            <a:off x="762000" y="4889500"/>
            <a:ext cx="5270500" cy="1460500"/>
          </a:xfrm>
          <a:prstGeom prst="roundRect">
            <a:avLst>
              <a:gd name="adj" fmla="val 0"/>
            </a:avLst>
          </a:prstGeom>
          <a:solidFill>
            <a:srgbClr val="4ADE80">
              <a:alpha val="8000"/>
            </a:srgbClr>
          </a:solidFill>
          <a:ln w="12700" cmpd="sng" cap="flat">
            <a:solidFill>
              <a:srgbClr val="4ADE80">
                <a:alpha val="20000"/>
              </a:srgbClr>
            </a:solid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5143500"/>
            <a:ext cx="406400" cy="406400"/>
          </a:xfrm>
          <a:prstGeom prst="rect">
            <a:avLst/>
          </a:prstGeom>
        </p:spPr>
      </p:pic>
      <p:sp>
        <p:nvSpPr>
          <p:cNvPr name="AutoShape 26" id="26"/>
          <p:cNvSpPr/>
          <p:nvPr/>
        </p:nvSpPr>
        <p:spPr>
          <a:xfrm rot="0" flipH="false" flipV="false">
            <a:off x="1587500" y="5105400"/>
            <a:ext cx="4191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Full MVP Completion</a:t>
            </a:r>
            <a:endParaRPr lang="en-US" sz="1100"/>
          </a:p>
        </p:txBody>
      </p:sp>
      <p:sp>
        <p:nvSpPr>
          <p:cNvPr name="AutoShape 27" id="27"/>
          <p:cNvSpPr/>
          <p:nvPr/>
        </p:nvSpPr>
        <p:spPr>
          <a:xfrm rot="0" flipH="false" flipV="false">
            <a:off x="1016000" y="5613400"/>
            <a:ext cx="4762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9CA3AF"/>
                </a:solidFill>
                <a:latin typeface="Noto Sans SC"/>
                <a:ea typeface="Noto Sans SC"/>
                <a:cs typeface="Noto Sans SC"/>
                <a:sym typeface="Noto Sans SC"/>
              </a:rPr>
              <a:t>Deliver a production-ready product with a refined UI/UX and audited smart contracts, ensuring security, usability, and scalability for real-world adoption.</a:t>
            </a:r>
            <a:endParaRPr lang="en-US" sz="1100"/>
          </a:p>
        </p:txBody>
      </p:sp>
      <p:sp>
        <p:nvSpPr>
          <p:cNvPr name="AutoShape 28" id="28"/>
          <p:cNvSpPr/>
          <p:nvPr/>
        </p:nvSpPr>
        <p:spPr>
          <a:xfrm rot="0" flipH="false" flipV="false">
            <a:off x="6286500" y="4889500"/>
            <a:ext cx="5270500" cy="1460500"/>
          </a:xfrm>
          <a:prstGeom prst="roundRect">
            <a:avLst>
              <a:gd name="adj" fmla="val 0"/>
            </a:avLst>
          </a:prstGeom>
          <a:solidFill>
            <a:srgbClr val="4ADE80">
              <a:alpha val="8000"/>
            </a:srgbClr>
          </a:solidFill>
          <a:ln w="12700" cmpd="sng" cap="flat">
            <a:solidFill>
              <a:srgbClr val="4ADE80">
                <a:alpha val="20000"/>
              </a:srgbClr>
            </a:solidFill>
            <a:prstDash val="solid"/>
            <a:round/>
          </a:ln>
        </p:spPr>
        <p:txBody>
          <a:bodyPr anchor="ctr" rtlCol="false" vert="horz" wrap="square" lIns="63500" rIns="63500" tIns="63500" bIns="63500"/>
          <a:lstStyle/>
          <a:p>
            <a:pPr algn="ctr">
              <a:defRPr/>
            </a:pPr>
            <a:endParaRPr/>
          </a:p>
        </p:txBody>
      </p:sp>
      <p:pic>
        <p:nvPicPr>
          <p:cNvPr name="Picture 29" id="29"/>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540500" y="5143500"/>
            <a:ext cx="406400" cy="406400"/>
          </a:xfrm>
          <a:prstGeom prst="rect">
            <a:avLst/>
          </a:prstGeom>
        </p:spPr>
      </p:pic>
      <p:sp>
        <p:nvSpPr>
          <p:cNvPr name="AutoShape 30" id="30"/>
          <p:cNvSpPr/>
          <p:nvPr/>
        </p:nvSpPr>
        <p:spPr>
          <a:xfrm rot="0" flipH="false" flipV="false">
            <a:off x="7112000" y="5105400"/>
            <a:ext cx="4191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End-to-End Demo Video</a:t>
            </a:r>
            <a:endParaRPr lang="en-US" sz="1100"/>
          </a:p>
        </p:txBody>
      </p:sp>
      <p:sp>
        <p:nvSpPr>
          <p:cNvPr name="AutoShape 31" id="31"/>
          <p:cNvSpPr/>
          <p:nvPr/>
        </p:nvSpPr>
        <p:spPr>
          <a:xfrm rot="0" flipH="false" flipV="false">
            <a:off x="6540500" y="5613400"/>
            <a:ext cx="4762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9CA3AF"/>
                </a:solidFill>
                <a:latin typeface="Noto Sans SC"/>
                <a:ea typeface="Noto Sans SC"/>
                <a:cs typeface="Noto Sans SC"/>
                <a:sym typeface="Noto Sans SC"/>
              </a:rPr>
              <a:t>Create a detailed walkthrough video showcasing the entire user journey—from proposal creation to automated execution on-chain, highlighting key features.</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F2937">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144000" y="-1524000"/>
            <a:ext cx="4445000" cy="4445000"/>
          </a:xfrm>
          <a:prstGeom prst="ellipse">
            <a:avLst/>
          </a:prstGeom>
          <a:solidFill>
            <a:srgbClr val="4ADE80">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2286000" y="4572000"/>
            <a:ext cx="5715000" cy="5715000"/>
          </a:xfrm>
          <a:prstGeom prst="ellipse">
            <a:avLst/>
          </a:prstGeom>
          <a:solidFill>
            <a:srgbClr val="4ADE80">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1016000"/>
            <a:ext cx="121920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200">
                <a:solidFill>
                  <a:srgbClr val="FFFFFF"/>
                </a:solidFill>
                <a:latin typeface="Noto Sans SC"/>
                <a:ea typeface="Noto Sans SC"/>
                <a:cs typeface="Noto Sans SC"/>
                <a:sym typeface="Noto Sans SC"/>
              </a:rPr>
              <a:t>Links &amp; Thank You</a:t>
            </a:r>
            <a:endParaRPr lang="en-US" sz="1100"/>
          </a:p>
        </p:txBody>
      </p:sp>
      <p:sp>
        <p:nvSpPr>
          <p:cNvPr name="AutoShape 5" id="5"/>
          <p:cNvSpPr/>
          <p:nvPr/>
        </p:nvSpPr>
        <p:spPr>
          <a:xfrm rot="0" flipH="false" flipV="false">
            <a:off x="1270000" y="2349500"/>
            <a:ext cx="9652000" cy="1651000"/>
          </a:xfrm>
          <a:prstGeom prst="roundRect">
            <a:avLst>
              <a:gd name="adj" fmla="val 0"/>
            </a:avLst>
          </a:prstGeom>
          <a:solidFill>
            <a:srgbClr val="374151">
              <a:alpha val="50000"/>
            </a:srgbClr>
          </a:solidFill>
          <a:ln w="12700" cmpd="sng" cap="flat">
            <a:solidFill>
              <a:srgbClr val="4ADE80">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778000" y="2844800"/>
            <a:ext cx="660400" cy="660400"/>
          </a:xfrm>
          <a:prstGeom prst="rect">
            <a:avLst/>
          </a:prstGeom>
        </p:spPr>
      </p:pic>
      <p:sp>
        <p:nvSpPr>
          <p:cNvPr name="AutoShape 7" id="7"/>
          <p:cNvSpPr/>
          <p:nvPr/>
        </p:nvSpPr>
        <p:spPr>
          <a:xfrm rot="0" flipH="false" flipV="false">
            <a:off x="2794000" y="2603500"/>
            <a:ext cx="7620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2000">
                <a:solidFill>
                  <a:srgbClr val="FFFFFF"/>
                </a:solidFill>
                <a:latin typeface="Noto Sans SC"/>
                <a:ea typeface="Noto Sans SC"/>
                <a:cs typeface="Noto Sans SC"/>
                <a:sym typeface="Noto Sans SC"/>
              </a:rPr>
              <a:t>GitHub Repository</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600">
                <a:solidFill>
                  <a:srgbClr val="4ADE80"/>
                </a:solidFill>
                <a:latin typeface="Roboto Mono"/>
                <a:ea typeface="Roboto Mono"/>
                <a:cs typeface="Roboto Mono"/>
                <a:sym typeface="Roboto Mono"/>
              </a:rPr>
              <a:t>https://github.com/LiuYang1573/ArcVote-Treasury</a:t>
            </a:r>
          </a:p>
        </p:txBody>
      </p:sp>
      <p:sp>
        <p:nvSpPr>
          <p:cNvPr name="AutoShape 8" id="8"/>
          <p:cNvSpPr/>
          <p:nvPr/>
        </p:nvSpPr>
        <p:spPr>
          <a:xfrm rot="0" flipH="false" flipV="false">
            <a:off x="762000" y="4508500"/>
            <a:ext cx="10668000" cy="1397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8333"/>
              </a:lnSpc>
              <a:defRPr/>
            </a:pPr>
            <a:r>
              <a:rPr lang="en-US" b="true" i="false" strike="noStrike" u="none" sz="2200">
                <a:solidFill>
                  <a:srgbClr val="FFFFFF"/>
                </a:solidFill>
                <a:latin typeface="Noto Sans SC"/>
                <a:ea typeface="Noto Sans SC"/>
                <a:cs typeface="Noto Sans SC"/>
                <a:sym typeface="Noto Sans SC"/>
              </a:rPr>
              <a:t>Special Thanks</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08333"/>
              </a:lnSpc>
            </a:pPr>
            <a:r>
              <a:rPr lang="en-US" b="false" i="false" strike="noStrike" u="none" sz="1400">
                <a:solidFill>
                  <a:srgbClr val="D1D5DB"/>
                </a:solidFill>
                <a:latin typeface="Noto Sans SC"/>
                <a:ea typeface="Noto Sans SC"/>
                <a:cs typeface="Noto Sans SC"/>
                <a:sym typeface="Noto Sans SC"/>
              </a:rPr>
              <a:t>Special thanks to</a:t>
            </a:r>
            <a:r>
              <a:rPr lang="en-US" b="false" i="false" strike="noStrike" u="none" sz="1400">
                <a:solidFill>
                  <a:srgbClr val="4ADE80"/>
                </a:solidFill>
                <a:latin typeface="Noto Sans SC"/>
                <a:ea typeface="Noto Sans SC"/>
                <a:cs typeface="Noto Sans SC"/>
                <a:sym typeface="Noto Sans SC"/>
              </a:rPr>
              <a:t>Encode Club</a:t>
            </a:r>
            <a:r>
              <a:rPr lang="en-US" b="false" i="false" strike="noStrike" u="none" sz="1400">
                <a:solidFill>
                  <a:srgbClr val="D1D5DB"/>
                </a:solidFill>
                <a:latin typeface="Noto Sans SC"/>
                <a:ea typeface="Noto Sans SC"/>
                <a:cs typeface="Noto Sans SC"/>
                <a:sym typeface="Noto Sans SC"/>
              </a:rPr>
              <a:t>for the incubation platform and guidance, as well as the technical support and ecosystem provided by</a:t>
            </a:r>
            <a:r>
              <a:rPr lang="en-US" b="false" i="false" strike="noStrike" u="none" sz="1400">
                <a:solidFill>
                  <a:srgbClr val="4ADE80"/>
                </a:solidFill>
                <a:latin typeface="Noto Sans SC"/>
                <a:ea typeface="Noto Sans SC"/>
                <a:cs typeface="Noto Sans SC"/>
                <a:sym typeface="Noto Sans SC"/>
              </a:rPr>
              <a:t>Arc</a:t>
            </a:r>
            <a:r>
              <a:rPr lang="en-US" b="false" i="false" strike="noStrike" u="none" sz="1400">
                <a:solidFill>
                  <a:srgbClr val="D1D5DB"/>
                </a:solidFill>
                <a:latin typeface="Noto Sans SC"/>
                <a:ea typeface="Noto Sans SC"/>
                <a:cs typeface="Noto Sans SC"/>
                <a:sym typeface="Noto Sans SC"/>
              </a:rPr>
              <a:t>and</a:t>
            </a:r>
            <a:r>
              <a:rPr lang="en-US" b="false" i="false" strike="noStrike" u="none" sz="1400">
                <a:solidFill>
                  <a:srgbClr val="4ADE80"/>
                </a:solidFill>
                <a:latin typeface="Noto Sans SC"/>
                <a:ea typeface="Noto Sans SC"/>
                <a:cs typeface="Noto Sans SC"/>
                <a:sym typeface="Noto Sans SC"/>
              </a:rPr>
              <a:t>Circle</a:t>
            </a:r>
            <a:r>
              <a:rPr lang="en-US" b="false" i="false" strike="noStrike" u="none" sz="1400">
                <a:solidFill>
                  <a:srgbClr val="D1D5DB"/>
                </a:solidFill>
                <a:latin typeface="Noto Sans SC"/>
                <a:ea typeface="Noto Sans SC"/>
                <a:cs typeface="Noto Sans SC"/>
                <a:sym typeface="Noto Sans SC"/>
              </a:rPr>
              <a:t>, which have made our innovative ideas possible!</a:t>
            </a:r>
          </a:p>
        </p:txBody>
      </p:sp>
      <p:sp>
        <p:nvSpPr>
          <p:cNvPr name="AutoShape 9" id="9"/>
          <p:cNvSpPr/>
          <p:nvPr/>
        </p:nvSpPr>
        <p:spPr>
          <a:xfrm rot="0" flipH="false" flipV="false">
            <a:off x="0" y="6096000"/>
            <a:ext cx="12192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200">
                <a:solidFill>
                  <a:srgbClr val="FFFFFF">
                    <a:alpha val="30196"/>
                  </a:srgbClr>
                </a:solidFill>
                <a:latin typeface="Noto Sans SC"/>
                <a:ea typeface="Noto Sans SC"/>
                <a:cs typeface="Noto Sans SC"/>
                <a:sym typeface="Noto Sans SC"/>
              </a:rPr>
              <a:t>—— Building trust with technology, co-creating a future of transparent governance with the community ——</a:t>
            </a:r>
            <a:endParaRPr lang="en-US" sz="1100"/>
          </a:p>
        </p:txBody>
      </p:sp>
      <p:pic>
        <p:nvPicPr>
          <p:cNvPr name="Picture 10" id="10"/>
          <p:cNvPicPr>
            <a:picLocks noChangeAspect="true"/>
          </p:cNvPicPr>
          <p:nvPr/>
        </p:nvPicPr>
        <p:blipFill>
          <a:blip r:embed="rId5"/>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{"Label":"1","ContentProducer":"001191110102MACQD9K64010000","ProduceID":"7668129026406190020","ReservedCode1":"","ContentPropagator":"","PropagateID":"","ReservedCode2":""}</vt:lpwstr>
  </property>
</Properties>
</file>